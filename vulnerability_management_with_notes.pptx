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3" d="100"/>
          <a:sy n="163" d="100"/>
        </p:scale>
        <p:origin x="18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0099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yourself. Set the stage: vulnerability management is one of the most fundamental — and most frequently underperformed — disciplines in information security. Today's goal is to give attendees a practical framework they can take back and apply to their own programs, whether they're just getting started or looking to level up a mature program. Keep the intro brief — about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walk through the agenda so the audience knows what to expect. Mention that the first half is foundational (what VM is and how to build the core machinery), and the second half is operational (how to run it well, measure it, and get buy-in). Reassure attendees there will be time for Q&amp;A at the end. (~1 minute)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grounding everyone in what VM actually is — there's often confusion between vulnerability management as a program vs. a tool or a scan. Emphasize the 'continuous process' language: this isn't a quarterly checkbox. On The Stakes card, you can elaborate with current breach stats if you have them — the IBM Cost of a Data Breach report is a great source. On 'It's a Program': draw the analogy to patch management or change management — no one thinks those are one-time projects. (~3-4 minutes)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building block in order — they build on each other. Key point on Asset Inventory: this is where most programs fail before they even begin. If your CMDB is incomplete or stale, your scan results are meaningless. On Scanning: distinguish between authenticated scans (agent or credential-based, gives full vuln detail) vs. unauthenticated (external attacker view). Both matter. On Pen Testing: clarify it doesn't replace scanning — it's a validation layer, not a substitute. On Threat Intel: this is what separates mature programs from immature ones — enriching raw findings with real-world exploitability data. (~4-5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often the most eye-opening slide for audiences. The core message: CVSS alone is a terrible prioritization strategy. A CVSS 9.8 vulnerability on an isolated dev box with no exploit code is far less dangerous than a CVSS 6.5 with an active exploit kit targeting your public-facing systems. Walk through each factor on the left. Highlight EPSS (Exploit Prediction Scoring System) and CISA KEV (Known Exploited Vulnerabilities catalog) as free, high-signal resources. The priority matrix on the right shows suggested SLA targets — emphasize these are starting points, not universal rules. Orgs should calibrate SLAs to their own risk tolerance and compliance requirements. Expect good discussion here. (~5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five-step flow at the top — this is the operational heartbeat of any VM program. The steps are simple; the execution is hard. Drill into the three columns below: Ownership is the #1 friction point — security teams often discover vulns but have no authority to force remediation. The RACI model is essential. Tooling Integration: closing the loop between scanner → ticket → re-scan is critical; without automation, SLA tracking becomes a manual nightmare. Exceptions: every mature program needs a formal risk acceptance process. Ad-hoc exceptions ('we'll get to it') are how vulns age into breaches. Emphasize that exceptions must be time-boxed and documented. (~4-5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how you prove the program is working — and how you justify headcount and tooling budget. Walk through the four KPIs: MTTR is the most telling single metric; if it's not trending down over time, the program isn't improving. SLA compliance rate shows whether commitments are being met. Vuln density helps identify high-risk asset clusters. Scan coverage is the sanity check — if you're not scanning 95%+ of assets, your other metrics are unreliable. On the audience section: this is critical. Sending a 500-row spreadsheet to your CISO is as useless as giving the board a CVE list. Match the format and language to the audience's needs. Board-level reporting should always be in business risk terms: 'We have 3 unpatched critical systems exposed to the internet that could result in a regulatory fine of up to $X.' (~4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what separates a repeatable program from heroic individual effort. Without a documented policy, VM lives and dies with one person. On the left: Policy sets the 'what and when'; RACI sets the 'who'. If you can't answer 'who is accountable when a Critical vuln isn't patched on time?', you don't have a mature program yet. On Compliance Alignment: VM requirements show up in nearly every major framework — PCI DSS Requirement 6 &amp; 11, HIPAA Security Rule, SOC 2 CC7, NIST CSF ID.RA and RS.MI. Framing VM in compliance terms can be a powerful lever to get budget and prioritization. On the Maturity Model: encourage the audience to honestly assess where they are today. Most organizations are L2-L3. The goal isn't L5 overnight — it's to have a clear roadmap. (~4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tends to generate the most recognition — and nodding heads — in the room. Invite the audience to be honest about which of these they've experienced. Scan Theater: the telltale sign is a program that can tell you how many vulns exist but not how many were fixed last month. Alert Fatigue: when every finding is 'Critical', nothing is. Noise reduction through prioritization is the cure. Coverage Gaps: ask the audience 'do you know every asset on your network?' — cloud and IoT have made this dramatically harder. Siloed Teams: security doesn't have the access or authority to patch systems; ops teams don't feel urgency around security findings. This is a cultural and process problem, not a technical one. CVSS Fixation: CVSS measures severity, not risk. A CVSS 10 with no public exploit on an internal, isolated system may be less urgent than a CVSS 6 being actively exploited in the wild. No Exception Process: ad-hoc exceptions create audit findings and legal exposure. (~5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Caution the audience upfront: tool selection is often where programs go wrong — orgs buy a scanner and call it a VM program. The tool is only as good as the process around it. On Vulnerability Scanners: Tenable, Qualys, and Rapid7 are the enterprise incumbents. Wiz and Orca have become dominant for cloud-native. On RBVM/ASPM platforms: these sit above the scanners and aggregate findings from multiple sources — scanner, SAST, DAST, SCA, cloud posture — into a single risk-prioritized view. Increasingly important as attack surfaces grow. On Integration: the scanner should feed your ticketing system automatically; manual handoffs kill SLA compliance. On Special Environments — Cloud Native: traditional agent-based scanning doesn't work well for containers that spin up and down in minutes; shift-left scanning of images and IaC is the answer. OT/ICS: never run active scans against operational technology — it can crash systems; passive traffic monitoring is the safe approach. Supply Chain: Log4Shell was a wake-up call; SBOM is now a board-level topic. (~4-5 minutes)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most practitioners skip — and it's often why programs stall. Technical execution without organizational alignment gets you a great scanner and a pile of ignored tickets. On Executives: the magic phrase is 'residual risk.' Don't say 'we have 1,200 open vulns.' Say 'we have 4 unmitigated critical exposures on internet-facing systems that represent significant breach and regulatory risk.' Numbers without context don't move executives. On Engineering &amp; IT Ops: this audience resents being handed tickets they had no say in creating. Involve them early — in tool selection, SLA setting, and exception processes. Recognize and celebrate teams with strong patch compliance; shame is not a motivator. On The Broader Org: quick wins matter enormously in the first 90 days of a program. Find a high-visibility win — reducing Critical vuln count by 50%, getting scan coverage to 95% — and publicize it. Executive sponsorship: make sure your CISO or CTO is visibly behind the program. Without top cover, VM becomes a security team problem that nobody else feels obligated to solve. (~4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land the key messages before opening to Q&amp;A. Read each point slowly and let them sink in — don't rush to get to questions. You can frame it as: 'If you take nothing else from today, these five things will set your program up for success.' On point 1 (program not project): the single biggest mindset shift for orgs that are treating VM as a quarterly scan. On point 2 (prioritization and accountability): these are the operational hard problems — everything else is solvable with budget. On point 3 (start with visibility): resist the temptation to build a sophisticated risk scoring model before you even know what assets you have. On point 4 (metrics): what gets measured gets managed — and what gets reported to leadership gets resourced. On point 5 (team sport): end on this note because it's the most human element of VM. No security team patches systems alone. Open to Q&amp;A and leave 10-15 minutes. Common questions to anticipate: 'How do we get started if we have almost nothing in place?', 'What's the right scan frequency?', 'How do we handle legacy systems that can't be patched?'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thank the audience for their time and attention. Invite anyone with follow-up questions or who wants to continue the conversation to connect on LinkedIn. If time allows, you can briefly mention your background and what areas of VM you're most passionate about. Leave this slide up during any informal post-session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linkedin.com/in/rich-ingersoll/"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C2CB"/>
          </a:solidFill>
          <a:ln w="12700">
            <a:solidFill>
              <a:srgbClr val="00C2CB"/>
            </a:solidFill>
            <a:prstDash val="solid"/>
          </a:ln>
        </p:spPr>
        <p:txBody>
          <a:bodyPr/>
          <a:lstStyle/>
          <a:p>
            <a:endParaRPr lang="en-US"/>
          </a:p>
        </p:txBody>
      </p:sp>
      <p:sp>
        <p:nvSpPr>
          <p:cNvPr id="3" name="Shape 1"/>
          <p:cNvSpPr/>
          <p:nvPr/>
        </p:nvSpPr>
        <p:spPr>
          <a:xfrm>
            <a:off x="457200" y="1371600"/>
            <a:ext cx="5029200" cy="73152"/>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457200" y="1554480"/>
            <a:ext cx="5943600" cy="68580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Running an Effective</a:t>
            </a:r>
            <a:endParaRPr lang="en-US" sz="3200" dirty="0"/>
          </a:p>
        </p:txBody>
      </p:sp>
      <p:sp>
        <p:nvSpPr>
          <p:cNvPr id="5" name="Text 3"/>
          <p:cNvSpPr/>
          <p:nvPr/>
        </p:nvSpPr>
        <p:spPr>
          <a:xfrm>
            <a:off x="457200" y="2194560"/>
            <a:ext cx="6400800" cy="685800"/>
          </a:xfrm>
          <a:prstGeom prst="rect">
            <a:avLst/>
          </a:prstGeom>
          <a:noFill/>
          <a:ln/>
        </p:spPr>
        <p:txBody>
          <a:bodyPr wrap="square" rtlCol="0" anchor="ctr"/>
          <a:lstStyle/>
          <a:p>
            <a:pPr marL="0" indent="0">
              <a:buNone/>
            </a:pPr>
            <a:r>
              <a:rPr lang="en-US" sz="3200" b="1" dirty="0">
                <a:solidFill>
                  <a:srgbClr val="00C2CB"/>
                </a:solidFill>
                <a:latin typeface="Calibri" pitchFamily="34" charset="0"/>
                <a:ea typeface="Calibri" pitchFamily="34" charset="-122"/>
                <a:cs typeface="Calibri" pitchFamily="34" charset="-120"/>
              </a:rPr>
              <a:t>Vulnerability Management</a:t>
            </a:r>
            <a:endParaRPr lang="en-US" sz="3200" dirty="0"/>
          </a:p>
        </p:txBody>
      </p:sp>
      <p:sp>
        <p:nvSpPr>
          <p:cNvPr id="6" name="Text 4"/>
          <p:cNvSpPr/>
          <p:nvPr/>
        </p:nvSpPr>
        <p:spPr>
          <a:xfrm>
            <a:off x="457200" y="2834640"/>
            <a:ext cx="4572000" cy="68580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Program</a:t>
            </a:r>
            <a:endParaRPr lang="en-US" sz="3200" dirty="0"/>
          </a:p>
        </p:txBody>
      </p:sp>
      <p:sp>
        <p:nvSpPr>
          <p:cNvPr id="7" name="Text 5"/>
          <p:cNvSpPr/>
          <p:nvPr/>
        </p:nvSpPr>
        <p:spPr>
          <a:xfrm>
            <a:off x="457200" y="3566160"/>
            <a:ext cx="5486400" cy="365760"/>
          </a:xfrm>
          <a:prstGeom prst="rect">
            <a:avLst/>
          </a:prstGeom>
          <a:noFill/>
          <a:ln/>
        </p:spPr>
        <p:txBody>
          <a:bodyPr wrap="square" rtlCol="0" anchor="ctr"/>
          <a:lstStyle/>
          <a:p>
            <a:pPr marL="0" indent="0">
              <a:buNone/>
            </a:pPr>
            <a:r>
              <a:rPr lang="en-US" sz="1500" i="1" dirty="0">
                <a:solidFill>
                  <a:srgbClr val="D1D5DB"/>
                </a:solidFill>
                <a:latin typeface="Calibri" pitchFamily="34" charset="0"/>
                <a:ea typeface="Calibri" pitchFamily="34" charset="-122"/>
                <a:cs typeface="Calibri" pitchFamily="34" charset="-120"/>
              </a:rPr>
              <a:t>An InfoSec Practitioner's Guide</a:t>
            </a:r>
          </a:p>
          <a:p>
            <a:pPr marL="0" indent="0">
              <a:buNone/>
            </a:pPr>
            <a:r>
              <a:rPr lang="en-US" sz="1500" i="1" dirty="0">
                <a:solidFill>
                  <a:srgbClr val="D1D5DB"/>
                </a:solidFill>
                <a:latin typeface="Calibri" pitchFamily="34" charset="0"/>
                <a:cs typeface="Calibri" pitchFamily="34" charset="-120"/>
              </a:rPr>
              <a:t>Rich Ingersoll</a:t>
            </a:r>
            <a:endParaRPr lang="en-US" sz="1500" dirty="0"/>
          </a:p>
        </p:txBody>
      </p:sp>
      <p:sp>
        <p:nvSpPr>
          <p:cNvPr id="9" name="Shape 6"/>
          <p:cNvSpPr/>
          <p:nvPr/>
        </p:nvSpPr>
        <p:spPr>
          <a:xfrm>
            <a:off x="6583680" y="64008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0" name="Shape 7"/>
          <p:cNvSpPr/>
          <p:nvPr/>
        </p:nvSpPr>
        <p:spPr>
          <a:xfrm>
            <a:off x="6931152" y="64008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11" name="Shape 8"/>
          <p:cNvSpPr/>
          <p:nvPr/>
        </p:nvSpPr>
        <p:spPr>
          <a:xfrm>
            <a:off x="7278624" y="64008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2" name="Shape 9"/>
          <p:cNvSpPr/>
          <p:nvPr/>
        </p:nvSpPr>
        <p:spPr>
          <a:xfrm>
            <a:off x="7626096" y="64008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3" name="Shape 10"/>
          <p:cNvSpPr/>
          <p:nvPr/>
        </p:nvSpPr>
        <p:spPr>
          <a:xfrm>
            <a:off x="7973568" y="64008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4" name="Shape 11"/>
          <p:cNvSpPr/>
          <p:nvPr/>
        </p:nvSpPr>
        <p:spPr>
          <a:xfrm>
            <a:off x="8321040" y="64008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15" name="Shape 12"/>
          <p:cNvSpPr/>
          <p:nvPr/>
        </p:nvSpPr>
        <p:spPr>
          <a:xfrm>
            <a:off x="6583680" y="128016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6" name="Shape 13"/>
          <p:cNvSpPr/>
          <p:nvPr/>
        </p:nvSpPr>
        <p:spPr>
          <a:xfrm>
            <a:off x="6931152" y="128016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7" name="Shape 14"/>
          <p:cNvSpPr/>
          <p:nvPr/>
        </p:nvSpPr>
        <p:spPr>
          <a:xfrm>
            <a:off x="7278624" y="128016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18" name="Shape 15"/>
          <p:cNvSpPr/>
          <p:nvPr/>
        </p:nvSpPr>
        <p:spPr>
          <a:xfrm>
            <a:off x="7626096" y="128016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19" name="Shape 16"/>
          <p:cNvSpPr/>
          <p:nvPr/>
        </p:nvSpPr>
        <p:spPr>
          <a:xfrm>
            <a:off x="7973568" y="128016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20" name="Shape 17"/>
          <p:cNvSpPr/>
          <p:nvPr/>
        </p:nvSpPr>
        <p:spPr>
          <a:xfrm>
            <a:off x="8321040" y="128016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21" name="Shape 18"/>
          <p:cNvSpPr/>
          <p:nvPr/>
        </p:nvSpPr>
        <p:spPr>
          <a:xfrm>
            <a:off x="6583680" y="192024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22" name="Shape 19"/>
          <p:cNvSpPr/>
          <p:nvPr/>
        </p:nvSpPr>
        <p:spPr>
          <a:xfrm>
            <a:off x="6931152" y="192024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23" name="Shape 20"/>
          <p:cNvSpPr/>
          <p:nvPr/>
        </p:nvSpPr>
        <p:spPr>
          <a:xfrm>
            <a:off x="7278624" y="192024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24" name="Shape 21"/>
          <p:cNvSpPr/>
          <p:nvPr/>
        </p:nvSpPr>
        <p:spPr>
          <a:xfrm>
            <a:off x="7626096" y="192024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25" name="Shape 22"/>
          <p:cNvSpPr/>
          <p:nvPr/>
        </p:nvSpPr>
        <p:spPr>
          <a:xfrm>
            <a:off x="7973568" y="192024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26" name="Shape 23"/>
          <p:cNvSpPr/>
          <p:nvPr/>
        </p:nvSpPr>
        <p:spPr>
          <a:xfrm>
            <a:off x="8321040" y="192024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27" name="Shape 24"/>
          <p:cNvSpPr/>
          <p:nvPr/>
        </p:nvSpPr>
        <p:spPr>
          <a:xfrm>
            <a:off x="6583680" y="256032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28" name="Shape 25"/>
          <p:cNvSpPr/>
          <p:nvPr/>
        </p:nvSpPr>
        <p:spPr>
          <a:xfrm>
            <a:off x="6931152" y="256032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29" name="Shape 26"/>
          <p:cNvSpPr/>
          <p:nvPr/>
        </p:nvSpPr>
        <p:spPr>
          <a:xfrm>
            <a:off x="7278624" y="256032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0" name="Shape 27"/>
          <p:cNvSpPr/>
          <p:nvPr/>
        </p:nvSpPr>
        <p:spPr>
          <a:xfrm>
            <a:off x="7626096" y="256032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1" name="Shape 28"/>
          <p:cNvSpPr/>
          <p:nvPr/>
        </p:nvSpPr>
        <p:spPr>
          <a:xfrm>
            <a:off x="7973568" y="256032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2" name="Shape 29"/>
          <p:cNvSpPr/>
          <p:nvPr/>
        </p:nvSpPr>
        <p:spPr>
          <a:xfrm>
            <a:off x="8321040" y="256032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3" name="Shape 30"/>
          <p:cNvSpPr/>
          <p:nvPr/>
        </p:nvSpPr>
        <p:spPr>
          <a:xfrm>
            <a:off x="6583680" y="320040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4" name="Shape 31"/>
          <p:cNvSpPr/>
          <p:nvPr/>
        </p:nvSpPr>
        <p:spPr>
          <a:xfrm>
            <a:off x="6931152" y="320040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5" name="Shape 32"/>
          <p:cNvSpPr/>
          <p:nvPr/>
        </p:nvSpPr>
        <p:spPr>
          <a:xfrm>
            <a:off x="7278624" y="320040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36" name="Shape 33"/>
          <p:cNvSpPr/>
          <p:nvPr/>
        </p:nvSpPr>
        <p:spPr>
          <a:xfrm>
            <a:off x="7626096" y="320040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7" name="Shape 34"/>
          <p:cNvSpPr/>
          <p:nvPr/>
        </p:nvSpPr>
        <p:spPr>
          <a:xfrm>
            <a:off x="7973568" y="320040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8" name="Shape 35"/>
          <p:cNvSpPr/>
          <p:nvPr/>
        </p:nvSpPr>
        <p:spPr>
          <a:xfrm>
            <a:off x="8321040" y="320040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9" name="Shape 36"/>
          <p:cNvSpPr/>
          <p:nvPr/>
        </p:nvSpPr>
        <p:spPr>
          <a:xfrm>
            <a:off x="6583680" y="384048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40" name="Shape 37"/>
          <p:cNvSpPr/>
          <p:nvPr/>
        </p:nvSpPr>
        <p:spPr>
          <a:xfrm>
            <a:off x="6931152" y="384048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41" name="Shape 38"/>
          <p:cNvSpPr/>
          <p:nvPr/>
        </p:nvSpPr>
        <p:spPr>
          <a:xfrm>
            <a:off x="7278624" y="384048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42" name="Shape 39"/>
          <p:cNvSpPr/>
          <p:nvPr/>
        </p:nvSpPr>
        <p:spPr>
          <a:xfrm>
            <a:off x="7626096" y="384048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43" name="Shape 40"/>
          <p:cNvSpPr/>
          <p:nvPr/>
        </p:nvSpPr>
        <p:spPr>
          <a:xfrm>
            <a:off x="7973568" y="384048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44" name="Shape 41"/>
          <p:cNvSpPr/>
          <p:nvPr/>
        </p:nvSpPr>
        <p:spPr>
          <a:xfrm>
            <a:off x="8321040" y="3840480"/>
            <a:ext cx="164592" cy="164592"/>
          </a:xfrm>
          <a:prstGeom prst="ellipse">
            <a:avLst/>
          </a:prstGeom>
          <a:solidFill>
            <a:srgbClr val="00C2CB">
              <a:alpha val="85000"/>
            </a:srgbClr>
          </a:solidFill>
          <a:ln w="12700">
            <a:solidFill>
              <a:srgbClr val="00C2CB">
                <a:alpha val="85000"/>
              </a:srgbClr>
            </a:solidFill>
            <a:prstDash val="solid"/>
          </a:ln>
        </p:spPr>
        <p:txBody>
          <a:bodyPr/>
          <a:lstStyle/>
          <a:p>
            <a:endParaRPr lang="en-US"/>
          </a:p>
        </p:txBody>
      </p:sp>
      <p:sp>
        <p:nvSpPr>
          <p:cNvPr id="45" name="Shape 42"/>
          <p:cNvSpPr/>
          <p:nvPr/>
        </p:nvSpPr>
        <p:spPr>
          <a:xfrm>
            <a:off x="7589520" y="2103120"/>
            <a:ext cx="1280160" cy="1280160"/>
          </a:xfrm>
          <a:prstGeom prst="ellipse">
            <a:avLst/>
          </a:prstGeom>
          <a:solidFill>
            <a:srgbClr val="00C2CB">
              <a:alpha val="15000"/>
            </a:srgbClr>
          </a:solidFill>
          <a:ln w="25400">
            <a:solidFill>
              <a:srgbClr val="00C2CB"/>
            </a:solidFill>
            <a:prstDash val="solid"/>
          </a:ln>
        </p:spPr>
        <p:txBody>
          <a:bodyPr/>
          <a:lstStyle/>
          <a:p>
            <a:endParaRPr lang="en-US"/>
          </a:p>
        </p:txBody>
      </p:sp>
      <p:sp>
        <p:nvSpPr>
          <p:cNvPr id="46" name="Text 43"/>
          <p:cNvSpPr/>
          <p:nvPr/>
        </p:nvSpPr>
        <p:spPr>
          <a:xfrm>
            <a:off x="7589520" y="2240280"/>
            <a:ext cx="128016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91440"/>
            <a:ext cx="8229600" cy="731520"/>
          </a:xfrm>
          <a:prstGeom prst="rect">
            <a:avLst/>
          </a:prstGeom>
          <a:noFill/>
          <a:ln/>
        </p:spPr>
        <p:txBody>
          <a:bodyPr wrap="square" rtlCol="0" anchor="ctr"/>
          <a:lstStyle/>
          <a:p>
            <a:pPr marL="0" indent="0">
              <a:buNone/>
            </a:pPr>
            <a:r>
              <a:rPr lang="en-US" sz="2200" b="1" kern="0" spc="400" dirty="0">
                <a:solidFill>
                  <a:srgbClr val="00C2CB"/>
                </a:solidFill>
                <a:latin typeface="Calibri" pitchFamily="34" charset="0"/>
                <a:ea typeface="Calibri" pitchFamily="34" charset="-122"/>
                <a:cs typeface="Calibri" pitchFamily="34" charset="-120"/>
              </a:rPr>
              <a:t>AGENDA</a:t>
            </a:r>
            <a:endParaRPr lang="en-US" sz="2200" dirty="0"/>
          </a:p>
        </p:txBody>
      </p:sp>
      <p:sp>
        <p:nvSpPr>
          <p:cNvPr id="4" name="Shape 2"/>
          <p:cNvSpPr/>
          <p:nvPr/>
        </p:nvSpPr>
        <p:spPr>
          <a:xfrm>
            <a:off x="274320" y="1005840"/>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274320" y="1005840"/>
            <a:ext cx="384048" cy="621792"/>
          </a:xfrm>
          <a:prstGeom prst="rect">
            <a:avLst/>
          </a:prstGeom>
          <a:solidFill>
            <a:srgbClr val="0D1B2A"/>
          </a:solidFill>
          <a:ln w="12700">
            <a:solidFill>
              <a:srgbClr val="0D1B2A"/>
            </a:solidFill>
            <a:prstDash val="solid"/>
          </a:ln>
        </p:spPr>
        <p:txBody>
          <a:bodyPr/>
          <a:lstStyle/>
          <a:p>
            <a:endParaRPr lang="en-US"/>
          </a:p>
        </p:txBody>
      </p:sp>
      <p:sp>
        <p:nvSpPr>
          <p:cNvPr id="6" name="Text 4"/>
          <p:cNvSpPr/>
          <p:nvPr/>
        </p:nvSpPr>
        <p:spPr>
          <a:xfrm>
            <a:off x="274320" y="1005840"/>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731520" y="1005840"/>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Introduction &amp; Why VM Matters</a:t>
            </a:r>
            <a:endParaRPr lang="en-US" sz="1200" dirty="0"/>
          </a:p>
        </p:txBody>
      </p:sp>
      <p:sp>
        <p:nvSpPr>
          <p:cNvPr id="8" name="Shape 6"/>
          <p:cNvSpPr/>
          <p:nvPr/>
        </p:nvSpPr>
        <p:spPr>
          <a:xfrm>
            <a:off x="274320" y="1682496"/>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274320" y="1682496"/>
            <a:ext cx="384048" cy="621792"/>
          </a:xfrm>
          <a:prstGeom prst="rect">
            <a:avLst/>
          </a:prstGeom>
          <a:solidFill>
            <a:srgbClr val="0D1B2A"/>
          </a:solidFill>
          <a:ln w="12700">
            <a:solidFill>
              <a:srgbClr val="0D1B2A"/>
            </a:solidFill>
            <a:prstDash val="solid"/>
          </a:ln>
        </p:spPr>
        <p:txBody>
          <a:bodyPr/>
          <a:lstStyle/>
          <a:p>
            <a:endParaRPr lang="en-US"/>
          </a:p>
        </p:txBody>
      </p:sp>
      <p:sp>
        <p:nvSpPr>
          <p:cNvPr id="10" name="Text 8"/>
          <p:cNvSpPr/>
          <p:nvPr/>
        </p:nvSpPr>
        <p:spPr>
          <a:xfrm>
            <a:off x="274320" y="1682496"/>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731520" y="1682496"/>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Core Components of a VM Program</a:t>
            </a:r>
            <a:endParaRPr lang="en-US" sz="1200" dirty="0"/>
          </a:p>
        </p:txBody>
      </p:sp>
      <p:sp>
        <p:nvSpPr>
          <p:cNvPr id="12" name="Shape 10"/>
          <p:cNvSpPr/>
          <p:nvPr/>
        </p:nvSpPr>
        <p:spPr>
          <a:xfrm>
            <a:off x="274320" y="2359152"/>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3" name="Shape 11"/>
          <p:cNvSpPr/>
          <p:nvPr/>
        </p:nvSpPr>
        <p:spPr>
          <a:xfrm>
            <a:off x="274320" y="2359152"/>
            <a:ext cx="384048" cy="621792"/>
          </a:xfrm>
          <a:prstGeom prst="rect">
            <a:avLst/>
          </a:prstGeom>
          <a:solidFill>
            <a:srgbClr val="0D1B2A"/>
          </a:solidFill>
          <a:ln w="12700">
            <a:solidFill>
              <a:srgbClr val="0D1B2A"/>
            </a:solidFill>
            <a:prstDash val="solid"/>
          </a:ln>
        </p:spPr>
        <p:txBody>
          <a:bodyPr/>
          <a:lstStyle/>
          <a:p>
            <a:endParaRPr lang="en-US"/>
          </a:p>
        </p:txBody>
      </p:sp>
      <p:sp>
        <p:nvSpPr>
          <p:cNvPr id="14" name="Text 12"/>
          <p:cNvSpPr/>
          <p:nvPr/>
        </p:nvSpPr>
        <p:spPr>
          <a:xfrm>
            <a:off x="274320" y="2359152"/>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03</a:t>
            </a:r>
            <a:endParaRPr lang="en-US" sz="1100" dirty="0"/>
          </a:p>
        </p:txBody>
      </p:sp>
      <p:sp>
        <p:nvSpPr>
          <p:cNvPr id="15" name="Text 13"/>
          <p:cNvSpPr/>
          <p:nvPr/>
        </p:nvSpPr>
        <p:spPr>
          <a:xfrm>
            <a:off x="731520" y="2359152"/>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Risk-Based Prioritization</a:t>
            </a:r>
            <a:endParaRPr lang="en-US" sz="1200" dirty="0"/>
          </a:p>
        </p:txBody>
      </p:sp>
      <p:sp>
        <p:nvSpPr>
          <p:cNvPr id="16" name="Shape 14"/>
          <p:cNvSpPr/>
          <p:nvPr/>
        </p:nvSpPr>
        <p:spPr>
          <a:xfrm>
            <a:off x="274320" y="3035808"/>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7" name="Shape 15"/>
          <p:cNvSpPr/>
          <p:nvPr/>
        </p:nvSpPr>
        <p:spPr>
          <a:xfrm>
            <a:off x="274320" y="3035808"/>
            <a:ext cx="384048" cy="621792"/>
          </a:xfrm>
          <a:prstGeom prst="rect">
            <a:avLst/>
          </a:prstGeom>
          <a:solidFill>
            <a:srgbClr val="0D1B2A"/>
          </a:solidFill>
          <a:ln w="12700">
            <a:solidFill>
              <a:srgbClr val="0D1B2A"/>
            </a:solidFill>
            <a:prstDash val="solid"/>
          </a:ln>
        </p:spPr>
        <p:txBody>
          <a:bodyPr/>
          <a:lstStyle/>
          <a:p>
            <a:endParaRPr lang="en-US"/>
          </a:p>
        </p:txBody>
      </p:sp>
      <p:sp>
        <p:nvSpPr>
          <p:cNvPr id="18" name="Text 16"/>
          <p:cNvSpPr/>
          <p:nvPr/>
        </p:nvSpPr>
        <p:spPr>
          <a:xfrm>
            <a:off x="274320" y="3035808"/>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04</a:t>
            </a:r>
            <a:endParaRPr lang="en-US" sz="1100" dirty="0"/>
          </a:p>
        </p:txBody>
      </p:sp>
      <p:sp>
        <p:nvSpPr>
          <p:cNvPr id="19" name="Text 17"/>
          <p:cNvSpPr/>
          <p:nvPr/>
        </p:nvSpPr>
        <p:spPr>
          <a:xfrm>
            <a:off x="731520" y="3035808"/>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Remediation Workflows</a:t>
            </a:r>
            <a:endParaRPr lang="en-US" sz="1200" dirty="0"/>
          </a:p>
        </p:txBody>
      </p:sp>
      <p:sp>
        <p:nvSpPr>
          <p:cNvPr id="20" name="Shape 18"/>
          <p:cNvSpPr/>
          <p:nvPr/>
        </p:nvSpPr>
        <p:spPr>
          <a:xfrm>
            <a:off x="274320" y="3712464"/>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274320" y="3712464"/>
            <a:ext cx="384048" cy="621792"/>
          </a:xfrm>
          <a:prstGeom prst="rect">
            <a:avLst/>
          </a:prstGeom>
          <a:solidFill>
            <a:srgbClr val="0D1B2A"/>
          </a:solidFill>
          <a:ln w="12700">
            <a:solidFill>
              <a:srgbClr val="0D1B2A"/>
            </a:solidFill>
            <a:prstDash val="solid"/>
          </a:ln>
        </p:spPr>
        <p:txBody>
          <a:bodyPr/>
          <a:lstStyle/>
          <a:p>
            <a:endParaRPr lang="en-US"/>
          </a:p>
        </p:txBody>
      </p:sp>
      <p:sp>
        <p:nvSpPr>
          <p:cNvPr id="22" name="Text 20"/>
          <p:cNvSpPr/>
          <p:nvPr/>
        </p:nvSpPr>
        <p:spPr>
          <a:xfrm>
            <a:off x="274320" y="3712464"/>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05</a:t>
            </a:r>
            <a:endParaRPr lang="en-US" sz="1100" dirty="0"/>
          </a:p>
        </p:txBody>
      </p:sp>
      <p:sp>
        <p:nvSpPr>
          <p:cNvPr id="23" name="Text 21"/>
          <p:cNvSpPr/>
          <p:nvPr/>
        </p:nvSpPr>
        <p:spPr>
          <a:xfrm>
            <a:off x="731520" y="3712464"/>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Metrics &amp; Reporting</a:t>
            </a:r>
            <a:endParaRPr lang="en-US" sz="1200" dirty="0"/>
          </a:p>
        </p:txBody>
      </p:sp>
      <p:sp>
        <p:nvSpPr>
          <p:cNvPr id="24" name="Shape 22"/>
          <p:cNvSpPr/>
          <p:nvPr/>
        </p:nvSpPr>
        <p:spPr>
          <a:xfrm>
            <a:off x="274320" y="4389120"/>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5" name="Shape 23"/>
          <p:cNvSpPr/>
          <p:nvPr/>
        </p:nvSpPr>
        <p:spPr>
          <a:xfrm>
            <a:off x="274320" y="4389120"/>
            <a:ext cx="384048" cy="621792"/>
          </a:xfrm>
          <a:prstGeom prst="rect">
            <a:avLst/>
          </a:prstGeom>
          <a:solidFill>
            <a:srgbClr val="0D1B2A"/>
          </a:solidFill>
          <a:ln w="12700">
            <a:solidFill>
              <a:srgbClr val="0D1B2A"/>
            </a:solidFill>
            <a:prstDash val="solid"/>
          </a:ln>
        </p:spPr>
        <p:txBody>
          <a:bodyPr/>
          <a:lstStyle/>
          <a:p>
            <a:endParaRPr lang="en-US"/>
          </a:p>
        </p:txBody>
      </p:sp>
      <p:sp>
        <p:nvSpPr>
          <p:cNvPr id="26" name="Text 24"/>
          <p:cNvSpPr/>
          <p:nvPr/>
        </p:nvSpPr>
        <p:spPr>
          <a:xfrm>
            <a:off x="274320" y="4389120"/>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06</a:t>
            </a:r>
            <a:endParaRPr lang="en-US" sz="1100" dirty="0"/>
          </a:p>
        </p:txBody>
      </p:sp>
      <p:sp>
        <p:nvSpPr>
          <p:cNvPr id="27" name="Text 25"/>
          <p:cNvSpPr/>
          <p:nvPr/>
        </p:nvSpPr>
        <p:spPr>
          <a:xfrm>
            <a:off x="731520" y="4389120"/>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Governance &amp; Maturity</a:t>
            </a:r>
            <a:endParaRPr lang="en-US" sz="1200" dirty="0"/>
          </a:p>
        </p:txBody>
      </p:sp>
      <p:sp>
        <p:nvSpPr>
          <p:cNvPr id="28" name="Shape 26"/>
          <p:cNvSpPr/>
          <p:nvPr/>
        </p:nvSpPr>
        <p:spPr>
          <a:xfrm>
            <a:off x="4754880" y="1005840"/>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9" name="Shape 27"/>
          <p:cNvSpPr/>
          <p:nvPr/>
        </p:nvSpPr>
        <p:spPr>
          <a:xfrm>
            <a:off x="4754880" y="1005840"/>
            <a:ext cx="384048" cy="621792"/>
          </a:xfrm>
          <a:prstGeom prst="rect">
            <a:avLst/>
          </a:prstGeom>
          <a:solidFill>
            <a:srgbClr val="0D1B2A"/>
          </a:solidFill>
          <a:ln w="12700">
            <a:solidFill>
              <a:srgbClr val="0D1B2A"/>
            </a:solidFill>
            <a:prstDash val="solid"/>
          </a:ln>
        </p:spPr>
        <p:txBody>
          <a:bodyPr/>
          <a:lstStyle/>
          <a:p>
            <a:endParaRPr lang="en-US"/>
          </a:p>
        </p:txBody>
      </p:sp>
      <p:sp>
        <p:nvSpPr>
          <p:cNvPr id="30" name="Text 28"/>
          <p:cNvSpPr/>
          <p:nvPr/>
        </p:nvSpPr>
        <p:spPr>
          <a:xfrm>
            <a:off x="4754880" y="1005840"/>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07</a:t>
            </a:r>
            <a:endParaRPr lang="en-US" sz="1100" dirty="0"/>
          </a:p>
        </p:txBody>
      </p:sp>
      <p:sp>
        <p:nvSpPr>
          <p:cNvPr id="31" name="Text 29"/>
          <p:cNvSpPr/>
          <p:nvPr/>
        </p:nvSpPr>
        <p:spPr>
          <a:xfrm>
            <a:off x="5212080" y="1005840"/>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Common Pitfalls</a:t>
            </a:r>
            <a:endParaRPr lang="en-US" sz="1200" dirty="0"/>
          </a:p>
        </p:txBody>
      </p:sp>
      <p:sp>
        <p:nvSpPr>
          <p:cNvPr id="32" name="Shape 30"/>
          <p:cNvSpPr/>
          <p:nvPr/>
        </p:nvSpPr>
        <p:spPr>
          <a:xfrm>
            <a:off x="4754880" y="1682496"/>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33" name="Shape 31"/>
          <p:cNvSpPr/>
          <p:nvPr/>
        </p:nvSpPr>
        <p:spPr>
          <a:xfrm>
            <a:off x="4754880" y="1682496"/>
            <a:ext cx="384048" cy="621792"/>
          </a:xfrm>
          <a:prstGeom prst="rect">
            <a:avLst/>
          </a:prstGeom>
          <a:solidFill>
            <a:srgbClr val="0D1B2A"/>
          </a:solidFill>
          <a:ln w="12700">
            <a:solidFill>
              <a:srgbClr val="0D1B2A"/>
            </a:solidFill>
            <a:prstDash val="solid"/>
          </a:ln>
        </p:spPr>
        <p:txBody>
          <a:bodyPr/>
          <a:lstStyle/>
          <a:p>
            <a:endParaRPr lang="en-US"/>
          </a:p>
        </p:txBody>
      </p:sp>
      <p:sp>
        <p:nvSpPr>
          <p:cNvPr id="34" name="Text 32"/>
          <p:cNvSpPr/>
          <p:nvPr/>
        </p:nvSpPr>
        <p:spPr>
          <a:xfrm>
            <a:off x="4754880" y="1682496"/>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08</a:t>
            </a:r>
            <a:endParaRPr lang="en-US" sz="1100" dirty="0"/>
          </a:p>
        </p:txBody>
      </p:sp>
      <p:sp>
        <p:nvSpPr>
          <p:cNvPr id="35" name="Text 33"/>
          <p:cNvSpPr/>
          <p:nvPr/>
        </p:nvSpPr>
        <p:spPr>
          <a:xfrm>
            <a:off x="5212080" y="1682496"/>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Tooling &amp; Special Considerations</a:t>
            </a:r>
            <a:endParaRPr lang="en-US" sz="1200" dirty="0"/>
          </a:p>
        </p:txBody>
      </p:sp>
      <p:sp>
        <p:nvSpPr>
          <p:cNvPr id="36" name="Shape 34"/>
          <p:cNvSpPr/>
          <p:nvPr/>
        </p:nvSpPr>
        <p:spPr>
          <a:xfrm>
            <a:off x="4754880" y="2359152"/>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37" name="Shape 35"/>
          <p:cNvSpPr/>
          <p:nvPr/>
        </p:nvSpPr>
        <p:spPr>
          <a:xfrm>
            <a:off x="4754880" y="2359152"/>
            <a:ext cx="384048" cy="621792"/>
          </a:xfrm>
          <a:prstGeom prst="rect">
            <a:avLst/>
          </a:prstGeom>
          <a:solidFill>
            <a:srgbClr val="0D1B2A"/>
          </a:solidFill>
          <a:ln w="12700">
            <a:solidFill>
              <a:srgbClr val="0D1B2A"/>
            </a:solidFill>
            <a:prstDash val="solid"/>
          </a:ln>
        </p:spPr>
        <p:txBody>
          <a:bodyPr/>
          <a:lstStyle/>
          <a:p>
            <a:endParaRPr lang="en-US"/>
          </a:p>
        </p:txBody>
      </p:sp>
      <p:sp>
        <p:nvSpPr>
          <p:cNvPr id="38" name="Text 36"/>
          <p:cNvSpPr/>
          <p:nvPr/>
        </p:nvSpPr>
        <p:spPr>
          <a:xfrm>
            <a:off x="4754880" y="2359152"/>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09</a:t>
            </a:r>
            <a:endParaRPr lang="en-US" sz="1100" dirty="0"/>
          </a:p>
        </p:txBody>
      </p:sp>
      <p:sp>
        <p:nvSpPr>
          <p:cNvPr id="39" name="Text 37"/>
          <p:cNvSpPr/>
          <p:nvPr/>
        </p:nvSpPr>
        <p:spPr>
          <a:xfrm>
            <a:off x="5212080" y="2359152"/>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Building Organizational Buy-In</a:t>
            </a:r>
            <a:endParaRPr lang="en-US" sz="1200" dirty="0"/>
          </a:p>
        </p:txBody>
      </p:sp>
      <p:sp>
        <p:nvSpPr>
          <p:cNvPr id="40" name="Shape 38"/>
          <p:cNvSpPr/>
          <p:nvPr/>
        </p:nvSpPr>
        <p:spPr>
          <a:xfrm>
            <a:off x="4754880" y="3035808"/>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41" name="Shape 39"/>
          <p:cNvSpPr/>
          <p:nvPr/>
        </p:nvSpPr>
        <p:spPr>
          <a:xfrm>
            <a:off x="4754880" y="3035808"/>
            <a:ext cx="384048" cy="621792"/>
          </a:xfrm>
          <a:prstGeom prst="rect">
            <a:avLst/>
          </a:prstGeom>
          <a:solidFill>
            <a:srgbClr val="0D1B2A"/>
          </a:solidFill>
          <a:ln w="12700">
            <a:solidFill>
              <a:srgbClr val="0D1B2A"/>
            </a:solidFill>
            <a:prstDash val="solid"/>
          </a:ln>
        </p:spPr>
        <p:txBody>
          <a:bodyPr/>
          <a:lstStyle/>
          <a:p>
            <a:endParaRPr lang="en-US"/>
          </a:p>
        </p:txBody>
      </p:sp>
      <p:sp>
        <p:nvSpPr>
          <p:cNvPr id="42" name="Text 40"/>
          <p:cNvSpPr/>
          <p:nvPr/>
        </p:nvSpPr>
        <p:spPr>
          <a:xfrm>
            <a:off x="4754880" y="3035808"/>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10</a:t>
            </a:r>
            <a:endParaRPr lang="en-US" sz="1100" dirty="0"/>
          </a:p>
        </p:txBody>
      </p:sp>
      <p:sp>
        <p:nvSpPr>
          <p:cNvPr id="43" name="Text 41"/>
          <p:cNvSpPr/>
          <p:nvPr/>
        </p:nvSpPr>
        <p:spPr>
          <a:xfrm>
            <a:off x="5212080" y="3035808"/>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Key Takeaways</a:t>
            </a:r>
            <a:endParaRPr lang="en-US" sz="1200" dirty="0"/>
          </a:p>
        </p:txBody>
      </p:sp>
      <p:sp>
        <p:nvSpPr>
          <p:cNvPr id="44" name="Shape 42"/>
          <p:cNvSpPr/>
          <p:nvPr/>
        </p:nvSpPr>
        <p:spPr>
          <a:xfrm>
            <a:off x="4754880" y="3712464"/>
            <a:ext cx="4206240" cy="621792"/>
          </a:xfrm>
          <a:prstGeom prst="rect">
            <a:avLst/>
          </a:prstGeom>
          <a:solidFill>
            <a:srgbClr val="FFFFFF"/>
          </a:solidFill>
          <a:ln w="635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45" name="Shape 43"/>
          <p:cNvSpPr/>
          <p:nvPr/>
        </p:nvSpPr>
        <p:spPr>
          <a:xfrm>
            <a:off x="4754880" y="3712464"/>
            <a:ext cx="384048" cy="621792"/>
          </a:xfrm>
          <a:prstGeom prst="rect">
            <a:avLst/>
          </a:prstGeom>
          <a:solidFill>
            <a:srgbClr val="0D1B2A"/>
          </a:solidFill>
          <a:ln w="12700">
            <a:solidFill>
              <a:srgbClr val="0D1B2A"/>
            </a:solidFill>
            <a:prstDash val="solid"/>
          </a:ln>
        </p:spPr>
        <p:txBody>
          <a:bodyPr/>
          <a:lstStyle/>
          <a:p>
            <a:endParaRPr lang="en-US"/>
          </a:p>
        </p:txBody>
      </p:sp>
      <p:sp>
        <p:nvSpPr>
          <p:cNvPr id="46" name="Text 44"/>
          <p:cNvSpPr/>
          <p:nvPr/>
        </p:nvSpPr>
        <p:spPr>
          <a:xfrm>
            <a:off x="4754880" y="3712464"/>
            <a:ext cx="384048" cy="62179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11</a:t>
            </a:r>
            <a:endParaRPr lang="en-US" sz="1100" dirty="0"/>
          </a:p>
        </p:txBody>
      </p:sp>
      <p:sp>
        <p:nvSpPr>
          <p:cNvPr id="47" name="Text 45"/>
          <p:cNvSpPr/>
          <p:nvPr/>
        </p:nvSpPr>
        <p:spPr>
          <a:xfrm>
            <a:off x="5212080" y="3712464"/>
            <a:ext cx="3657600" cy="62179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Q&amp;A &amp; Contact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91321"/>
          </a:solidFill>
          <a:ln w="12700">
            <a:solidFill>
              <a:srgbClr val="091321"/>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01  |  INTRODUCTION</a:t>
            </a:r>
            <a:endParaRPr lang="en-US" sz="1400" dirty="0"/>
          </a:p>
        </p:txBody>
      </p:sp>
      <p:sp>
        <p:nvSpPr>
          <p:cNvPr id="4" name="Text 2"/>
          <p:cNvSpPr/>
          <p:nvPr/>
        </p:nvSpPr>
        <p:spPr>
          <a:xfrm>
            <a:off x="365760" y="960120"/>
            <a:ext cx="822960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Is Vulnerability Management &amp; Why It Matters</a:t>
            </a:r>
            <a:endParaRPr lang="en-US" sz="2600" dirty="0"/>
          </a:p>
        </p:txBody>
      </p:sp>
      <p:sp>
        <p:nvSpPr>
          <p:cNvPr id="5" name="Shape 3"/>
          <p:cNvSpPr/>
          <p:nvPr/>
        </p:nvSpPr>
        <p:spPr>
          <a:xfrm>
            <a:off x="274320" y="1828800"/>
            <a:ext cx="2743200" cy="2743200"/>
          </a:xfrm>
          <a:prstGeom prst="rect">
            <a:avLst/>
          </a:prstGeom>
          <a:solidFill>
            <a:srgbClr val="132233"/>
          </a:solidFill>
          <a:ln w="12700">
            <a:solidFill>
              <a:srgbClr val="00C2CB"/>
            </a:solidFill>
            <a:prstDash val="solid"/>
          </a:ln>
        </p:spPr>
        <p:txBody>
          <a:bodyPr/>
          <a:lstStyle/>
          <a:p>
            <a:endParaRPr lang="en-US"/>
          </a:p>
        </p:txBody>
      </p:sp>
      <p:sp>
        <p:nvSpPr>
          <p:cNvPr id="6" name="Shape 4"/>
          <p:cNvSpPr/>
          <p:nvPr/>
        </p:nvSpPr>
        <p:spPr>
          <a:xfrm>
            <a:off x="274320" y="1828800"/>
            <a:ext cx="2743200" cy="73152"/>
          </a:xfrm>
          <a:prstGeom prst="rect">
            <a:avLst/>
          </a:prstGeom>
          <a:solidFill>
            <a:srgbClr val="00C2CB"/>
          </a:solidFill>
          <a:ln w="12700">
            <a:solidFill>
              <a:srgbClr val="00C2CB"/>
            </a:solidFill>
            <a:prstDash val="solid"/>
          </a:ln>
        </p:spPr>
        <p:txBody>
          <a:bodyPr/>
          <a:lstStyle/>
          <a:p>
            <a:endParaRPr lang="en-US"/>
          </a:p>
        </p:txBody>
      </p:sp>
      <p:sp>
        <p:nvSpPr>
          <p:cNvPr id="7" name="Text 5"/>
          <p:cNvSpPr/>
          <p:nvPr/>
        </p:nvSpPr>
        <p:spPr>
          <a:xfrm>
            <a:off x="411480" y="1965960"/>
            <a:ext cx="2468880" cy="411480"/>
          </a:xfrm>
          <a:prstGeom prst="rect">
            <a:avLst/>
          </a:prstGeom>
          <a:noFill/>
          <a:ln/>
        </p:spPr>
        <p:txBody>
          <a:bodyPr wrap="square"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Definition</a:t>
            </a:r>
            <a:endParaRPr lang="en-US" sz="1300" dirty="0"/>
          </a:p>
        </p:txBody>
      </p:sp>
      <p:sp>
        <p:nvSpPr>
          <p:cNvPr id="8" name="Text 6"/>
          <p:cNvSpPr/>
          <p:nvPr/>
        </p:nvSpPr>
        <p:spPr>
          <a:xfrm>
            <a:off x="411480" y="2423160"/>
            <a:ext cx="2468880" cy="2011680"/>
          </a:xfrm>
          <a:prstGeom prst="rect">
            <a:avLst/>
          </a:prstGeom>
          <a:noFill/>
          <a:ln/>
        </p:spPr>
        <p:txBody>
          <a:bodyPr wrap="square" rtlCol="0" anchor="t"/>
          <a:lstStyle/>
          <a:p>
            <a:pPr marL="0" indent="0">
              <a:buNone/>
            </a:pPr>
            <a:r>
              <a:rPr lang="en-US" sz="1150" dirty="0">
                <a:solidFill>
                  <a:srgbClr val="D1D5DB"/>
                </a:solidFill>
                <a:latin typeface="Calibri" pitchFamily="34" charset="0"/>
                <a:ea typeface="Calibri" pitchFamily="34" charset="-122"/>
                <a:cs typeface="Calibri" pitchFamily="34" charset="-120"/>
              </a:rPr>
              <a:t>VM is a continuous process of identifying, classifying, prioritizing, remediating, and mitigating software and system vulnerabilities.</a:t>
            </a:r>
            <a:endParaRPr lang="en-US" sz="1150" dirty="0"/>
          </a:p>
        </p:txBody>
      </p:sp>
      <p:sp>
        <p:nvSpPr>
          <p:cNvPr id="9" name="Shape 7"/>
          <p:cNvSpPr/>
          <p:nvPr/>
        </p:nvSpPr>
        <p:spPr>
          <a:xfrm>
            <a:off x="3200400" y="1828800"/>
            <a:ext cx="2743200" cy="2743200"/>
          </a:xfrm>
          <a:prstGeom prst="rect">
            <a:avLst/>
          </a:prstGeom>
          <a:solidFill>
            <a:srgbClr val="132233"/>
          </a:solidFill>
          <a:ln w="12700">
            <a:solidFill>
              <a:srgbClr val="00C2CB"/>
            </a:solidFill>
            <a:prstDash val="solid"/>
          </a:ln>
        </p:spPr>
        <p:txBody>
          <a:bodyPr/>
          <a:lstStyle/>
          <a:p>
            <a:endParaRPr lang="en-US"/>
          </a:p>
        </p:txBody>
      </p:sp>
      <p:sp>
        <p:nvSpPr>
          <p:cNvPr id="10" name="Shape 8"/>
          <p:cNvSpPr/>
          <p:nvPr/>
        </p:nvSpPr>
        <p:spPr>
          <a:xfrm>
            <a:off x="3200400" y="1828800"/>
            <a:ext cx="2743200" cy="73152"/>
          </a:xfrm>
          <a:prstGeom prst="rect">
            <a:avLst/>
          </a:prstGeom>
          <a:solidFill>
            <a:srgbClr val="00C2CB"/>
          </a:solidFill>
          <a:ln w="12700">
            <a:solidFill>
              <a:srgbClr val="00C2CB"/>
            </a:solidFill>
            <a:prstDash val="solid"/>
          </a:ln>
        </p:spPr>
        <p:txBody>
          <a:bodyPr/>
          <a:lstStyle/>
          <a:p>
            <a:endParaRPr lang="en-US"/>
          </a:p>
        </p:txBody>
      </p:sp>
      <p:sp>
        <p:nvSpPr>
          <p:cNvPr id="11" name="Text 9"/>
          <p:cNvSpPr/>
          <p:nvPr/>
        </p:nvSpPr>
        <p:spPr>
          <a:xfrm>
            <a:off x="3337560" y="1965960"/>
            <a:ext cx="2468880" cy="411480"/>
          </a:xfrm>
          <a:prstGeom prst="rect">
            <a:avLst/>
          </a:prstGeom>
          <a:noFill/>
          <a:ln/>
        </p:spPr>
        <p:txBody>
          <a:bodyPr wrap="square"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The Stakes</a:t>
            </a:r>
            <a:endParaRPr lang="en-US" sz="1300" dirty="0"/>
          </a:p>
        </p:txBody>
      </p:sp>
      <p:sp>
        <p:nvSpPr>
          <p:cNvPr id="12" name="Text 10"/>
          <p:cNvSpPr/>
          <p:nvPr/>
        </p:nvSpPr>
        <p:spPr>
          <a:xfrm>
            <a:off x="3337560" y="2423160"/>
            <a:ext cx="2468880" cy="2011680"/>
          </a:xfrm>
          <a:prstGeom prst="rect">
            <a:avLst/>
          </a:prstGeom>
          <a:noFill/>
          <a:ln/>
        </p:spPr>
        <p:txBody>
          <a:bodyPr wrap="square" rtlCol="0" anchor="t"/>
          <a:lstStyle/>
          <a:p>
            <a:r>
              <a:rPr lang="en-US" sz="1150" dirty="0">
                <a:solidFill>
                  <a:srgbClr val="D1D5DB"/>
                </a:solidFill>
                <a:latin typeface="Calibri" pitchFamily="34" charset="0"/>
                <a:ea typeface="Calibri" pitchFamily="34" charset="-122"/>
                <a:cs typeface="Calibri" pitchFamily="34" charset="-120"/>
              </a:rPr>
              <a:t>The average cost of a data breach exceeded $4.4M in 2025. Unpatched vulnerabilities remain one of the top attack vectors.</a:t>
            </a:r>
          </a:p>
          <a:p>
            <a:endParaRPr lang="en-US" sz="1150" dirty="0">
              <a:solidFill>
                <a:srgbClr val="D1D5DB"/>
              </a:solidFill>
              <a:latin typeface="Calibri" pitchFamily="34" charset="0"/>
              <a:cs typeface="Calibri" pitchFamily="34" charset="-120"/>
            </a:endParaRPr>
          </a:p>
          <a:p>
            <a:endParaRPr lang="en-US" sz="1150" dirty="0">
              <a:solidFill>
                <a:srgbClr val="D1D5DB"/>
              </a:solidFill>
              <a:latin typeface="Calibri" pitchFamily="34" charset="0"/>
              <a:cs typeface="Calibri" pitchFamily="34" charset="-120"/>
            </a:endParaRPr>
          </a:p>
          <a:p>
            <a:endParaRPr lang="en-US" sz="1150" dirty="0">
              <a:solidFill>
                <a:srgbClr val="D1D5DB"/>
              </a:solidFill>
              <a:latin typeface="Calibri" pitchFamily="34" charset="0"/>
              <a:cs typeface="Calibri" pitchFamily="34" charset="-120"/>
            </a:endParaRPr>
          </a:p>
          <a:p>
            <a:endParaRPr lang="en-US" sz="1150" dirty="0">
              <a:solidFill>
                <a:srgbClr val="D1D5DB"/>
              </a:solidFill>
              <a:latin typeface="Calibri" pitchFamily="34" charset="0"/>
              <a:cs typeface="Calibri" pitchFamily="34" charset="-120"/>
            </a:endParaRPr>
          </a:p>
          <a:p>
            <a:endParaRPr lang="en-US" sz="1150" dirty="0">
              <a:solidFill>
                <a:srgbClr val="D1D5DB"/>
              </a:solidFill>
              <a:latin typeface="Calibri" pitchFamily="34" charset="0"/>
              <a:cs typeface="Calibri" pitchFamily="34" charset="-120"/>
            </a:endParaRPr>
          </a:p>
          <a:p>
            <a:r>
              <a:rPr lang="en-US" sz="1150" dirty="0">
                <a:solidFill>
                  <a:srgbClr val="D1D5DB"/>
                </a:solidFill>
                <a:latin typeface="Calibri" pitchFamily="34" charset="0"/>
                <a:cs typeface="Calibri" pitchFamily="34" charset="-120"/>
              </a:rPr>
              <a:t>Source: IBM Data Breach Report 2025</a:t>
            </a:r>
          </a:p>
          <a:p>
            <a:r>
              <a:rPr lang="en-US" sz="1150" dirty="0">
                <a:solidFill>
                  <a:schemeClr val="bg1"/>
                </a:solidFill>
              </a:rPr>
              <a:t>https://</a:t>
            </a:r>
            <a:r>
              <a:rPr lang="en-US" sz="1150" dirty="0" err="1">
                <a:solidFill>
                  <a:schemeClr val="bg1"/>
                </a:solidFill>
              </a:rPr>
              <a:t>www.ibm.com</a:t>
            </a:r>
            <a:r>
              <a:rPr lang="en-US" sz="1150" dirty="0">
                <a:solidFill>
                  <a:schemeClr val="bg1"/>
                </a:solidFill>
              </a:rPr>
              <a:t>/reports/data-breach</a:t>
            </a:r>
          </a:p>
        </p:txBody>
      </p:sp>
      <p:sp>
        <p:nvSpPr>
          <p:cNvPr id="13" name="Shape 11"/>
          <p:cNvSpPr/>
          <p:nvPr/>
        </p:nvSpPr>
        <p:spPr>
          <a:xfrm>
            <a:off x="6126480" y="1828800"/>
            <a:ext cx="2743200" cy="2743200"/>
          </a:xfrm>
          <a:prstGeom prst="rect">
            <a:avLst/>
          </a:prstGeom>
          <a:solidFill>
            <a:srgbClr val="132233"/>
          </a:solidFill>
          <a:ln w="12700">
            <a:solidFill>
              <a:srgbClr val="00C2CB"/>
            </a:solidFill>
            <a:prstDash val="solid"/>
          </a:ln>
        </p:spPr>
        <p:txBody>
          <a:bodyPr/>
          <a:lstStyle/>
          <a:p>
            <a:endParaRPr lang="en-US"/>
          </a:p>
        </p:txBody>
      </p:sp>
      <p:sp>
        <p:nvSpPr>
          <p:cNvPr id="14" name="Shape 12"/>
          <p:cNvSpPr/>
          <p:nvPr/>
        </p:nvSpPr>
        <p:spPr>
          <a:xfrm>
            <a:off x="6126480" y="1828800"/>
            <a:ext cx="2743200" cy="73152"/>
          </a:xfrm>
          <a:prstGeom prst="rect">
            <a:avLst/>
          </a:prstGeom>
          <a:solidFill>
            <a:srgbClr val="00C2CB"/>
          </a:solidFill>
          <a:ln w="12700">
            <a:solidFill>
              <a:srgbClr val="00C2CB"/>
            </a:solidFill>
            <a:prstDash val="solid"/>
          </a:ln>
        </p:spPr>
        <p:txBody>
          <a:bodyPr/>
          <a:lstStyle/>
          <a:p>
            <a:endParaRPr lang="en-US"/>
          </a:p>
        </p:txBody>
      </p:sp>
      <p:sp>
        <p:nvSpPr>
          <p:cNvPr id="15" name="Text 13"/>
          <p:cNvSpPr/>
          <p:nvPr/>
        </p:nvSpPr>
        <p:spPr>
          <a:xfrm>
            <a:off x="6263640" y="1965960"/>
            <a:ext cx="2468880" cy="411480"/>
          </a:xfrm>
          <a:prstGeom prst="rect">
            <a:avLst/>
          </a:prstGeom>
          <a:noFill/>
          <a:ln/>
        </p:spPr>
        <p:txBody>
          <a:bodyPr wrap="square"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It's a Program</a:t>
            </a:r>
            <a:endParaRPr lang="en-US" sz="1300" dirty="0"/>
          </a:p>
        </p:txBody>
      </p:sp>
      <p:sp>
        <p:nvSpPr>
          <p:cNvPr id="16" name="Text 14"/>
          <p:cNvSpPr/>
          <p:nvPr/>
        </p:nvSpPr>
        <p:spPr>
          <a:xfrm>
            <a:off x="6263640" y="2423160"/>
            <a:ext cx="2468880" cy="2011680"/>
          </a:xfrm>
          <a:prstGeom prst="rect">
            <a:avLst/>
          </a:prstGeom>
          <a:noFill/>
          <a:ln/>
        </p:spPr>
        <p:txBody>
          <a:bodyPr wrap="square" rtlCol="0" anchor="t"/>
          <a:lstStyle/>
          <a:p>
            <a:pPr marL="0" indent="0">
              <a:buNone/>
            </a:pPr>
            <a:r>
              <a:rPr lang="en-US" sz="1150" dirty="0">
                <a:solidFill>
                  <a:srgbClr val="D1D5DB"/>
                </a:solidFill>
                <a:latin typeface="Calibri" pitchFamily="34" charset="0"/>
                <a:ea typeface="Calibri" pitchFamily="34" charset="-122"/>
                <a:cs typeface="Calibri" pitchFamily="34" charset="-120"/>
              </a:rPr>
              <a:t>VM is not a one-time scan or a tool purchase. It's an ongoing discipline requiring people, process, and technology.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02  |  CORE COMPONENTS</a:t>
            </a:r>
            <a:endParaRPr lang="en-US" sz="1400" dirty="0"/>
          </a:p>
        </p:txBody>
      </p:sp>
      <p:sp>
        <p:nvSpPr>
          <p:cNvPr id="4" name="Text 2"/>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Building Blocks of a VM Program</a:t>
            </a:r>
            <a:endParaRPr lang="en-US" sz="2400" dirty="0"/>
          </a:p>
        </p:txBody>
      </p:sp>
      <p:sp>
        <p:nvSpPr>
          <p:cNvPr id="5" name="Shape 3"/>
          <p:cNvSpPr/>
          <p:nvPr/>
        </p:nvSpPr>
        <p:spPr>
          <a:xfrm>
            <a:off x="228600" y="1600200"/>
            <a:ext cx="2011680" cy="320040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914400" y="1737360"/>
            <a:ext cx="640080" cy="640080"/>
          </a:xfrm>
          <a:prstGeom prst="ellipse">
            <a:avLst/>
          </a:prstGeom>
          <a:solidFill>
            <a:srgbClr val="0D1B2A"/>
          </a:solidFill>
          <a:ln w="12700">
            <a:solidFill>
              <a:srgbClr val="0D1B2A"/>
            </a:solidFill>
            <a:prstDash val="solid"/>
          </a:ln>
        </p:spPr>
        <p:txBody>
          <a:bodyPr/>
          <a:lstStyle/>
          <a:p>
            <a:endParaRPr lang="en-US"/>
          </a:p>
        </p:txBody>
      </p:sp>
      <p:sp>
        <p:nvSpPr>
          <p:cNvPr id="7" name="Text 5"/>
          <p:cNvSpPr/>
          <p:nvPr/>
        </p:nvSpPr>
        <p:spPr>
          <a:xfrm>
            <a:off x="914400" y="1737360"/>
            <a:ext cx="640080" cy="640080"/>
          </a:xfrm>
          <a:prstGeom prst="rect">
            <a:avLst/>
          </a:prstGeom>
          <a:noFill/>
          <a:ln/>
        </p:spPr>
        <p:txBody>
          <a:bodyPr wrap="square" lIns="0" tIns="0" rIns="0" bIns="0" rtlCol="0" anchor="ctr"/>
          <a:lstStyle/>
          <a:p>
            <a:pPr marL="0" indent="0" algn="ctr">
              <a:buNone/>
            </a:pPr>
            <a:r>
              <a:rPr lang="en-US" sz="1600" b="1" dirty="0">
                <a:solidFill>
                  <a:srgbClr val="00C2CB"/>
                </a:solidFill>
              </a:rPr>
              <a:t>1</a:t>
            </a:r>
            <a:endParaRPr lang="en-US" sz="1600" dirty="0"/>
          </a:p>
        </p:txBody>
      </p:sp>
      <p:sp>
        <p:nvSpPr>
          <p:cNvPr id="8" name="Text 6"/>
          <p:cNvSpPr/>
          <p:nvPr/>
        </p:nvSpPr>
        <p:spPr>
          <a:xfrm>
            <a:off x="320040" y="2487168"/>
            <a:ext cx="1828800" cy="50292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Asset Inventory</a:t>
            </a:r>
            <a:endParaRPr lang="en-US" sz="1200" dirty="0"/>
          </a:p>
        </p:txBody>
      </p:sp>
      <p:sp>
        <p:nvSpPr>
          <p:cNvPr id="9" name="Text 7"/>
          <p:cNvSpPr/>
          <p:nvPr/>
        </p:nvSpPr>
        <p:spPr>
          <a:xfrm>
            <a:off x="320040" y="3017520"/>
            <a:ext cx="1828800" cy="1600200"/>
          </a:xfrm>
          <a:prstGeom prst="rect">
            <a:avLst/>
          </a:prstGeom>
          <a:noFill/>
          <a:ln/>
        </p:spPr>
        <p:txBody>
          <a:bodyPr wrap="square"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You can't protect what you don't know you have. A comprehensive, up-to-date CMDB is the foundation.</a:t>
            </a:r>
            <a:endParaRPr lang="en-US" sz="1050" dirty="0"/>
          </a:p>
        </p:txBody>
      </p:sp>
      <p:sp>
        <p:nvSpPr>
          <p:cNvPr id="10" name="Shape 8"/>
          <p:cNvSpPr/>
          <p:nvPr/>
        </p:nvSpPr>
        <p:spPr>
          <a:xfrm>
            <a:off x="2423160" y="1600200"/>
            <a:ext cx="2011680" cy="320040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3108960" y="1737360"/>
            <a:ext cx="640080" cy="640080"/>
          </a:xfrm>
          <a:prstGeom prst="ellipse">
            <a:avLst/>
          </a:prstGeom>
          <a:solidFill>
            <a:srgbClr val="0D1B2A"/>
          </a:solidFill>
          <a:ln w="12700">
            <a:solidFill>
              <a:srgbClr val="0D1B2A"/>
            </a:solidFill>
            <a:prstDash val="solid"/>
          </a:ln>
        </p:spPr>
        <p:txBody>
          <a:bodyPr/>
          <a:lstStyle/>
          <a:p>
            <a:endParaRPr lang="en-US"/>
          </a:p>
        </p:txBody>
      </p:sp>
      <p:sp>
        <p:nvSpPr>
          <p:cNvPr id="12" name="Text 10"/>
          <p:cNvSpPr/>
          <p:nvPr/>
        </p:nvSpPr>
        <p:spPr>
          <a:xfrm>
            <a:off x="3108960" y="1737360"/>
            <a:ext cx="640080" cy="640080"/>
          </a:xfrm>
          <a:prstGeom prst="rect">
            <a:avLst/>
          </a:prstGeom>
          <a:noFill/>
          <a:ln/>
        </p:spPr>
        <p:txBody>
          <a:bodyPr wrap="square" lIns="0" tIns="0" rIns="0" bIns="0" rtlCol="0" anchor="ctr"/>
          <a:lstStyle/>
          <a:p>
            <a:pPr marL="0" indent="0" algn="ctr">
              <a:buNone/>
            </a:pPr>
            <a:r>
              <a:rPr lang="en-US" sz="1600" b="1" dirty="0">
                <a:solidFill>
                  <a:srgbClr val="00C2CB"/>
                </a:solidFill>
              </a:rPr>
              <a:t>2</a:t>
            </a:r>
            <a:endParaRPr lang="en-US" sz="1600" dirty="0"/>
          </a:p>
        </p:txBody>
      </p:sp>
      <p:sp>
        <p:nvSpPr>
          <p:cNvPr id="13" name="Text 11"/>
          <p:cNvSpPr/>
          <p:nvPr/>
        </p:nvSpPr>
        <p:spPr>
          <a:xfrm>
            <a:off x="2514600" y="2487168"/>
            <a:ext cx="1828800" cy="50292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Vulnerability Scanning</a:t>
            </a:r>
            <a:endParaRPr lang="en-US" sz="1200" dirty="0"/>
          </a:p>
        </p:txBody>
      </p:sp>
      <p:sp>
        <p:nvSpPr>
          <p:cNvPr id="14" name="Text 12"/>
          <p:cNvSpPr/>
          <p:nvPr/>
        </p:nvSpPr>
        <p:spPr>
          <a:xfrm>
            <a:off x="2514600" y="3017520"/>
            <a:ext cx="1828800" cy="1600200"/>
          </a:xfrm>
          <a:prstGeom prst="rect">
            <a:avLst/>
          </a:prstGeom>
          <a:noFill/>
          <a:ln/>
        </p:spPr>
        <p:txBody>
          <a:bodyPr wrap="square"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Authenticated &amp; unauthenticated scans. Internal, external, and cloud. Scheduled + continuous.</a:t>
            </a:r>
            <a:endParaRPr lang="en-US" sz="1050" dirty="0"/>
          </a:p>
        </p:txBody>
      </p:sp>
      <p:sp>
        <p:nvSpPr>
          <p:cNvPr id="15" name="Shape 13"/>
          <p:cNvSpPr/>
          <p:nvPr/>
        </p:nvSpPr>
        <p:spPr>
          <a:xfrm>
            <a:off x="4617720" y="1600200"/>
            <a:ext cx="2011680" cy="320040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5303520" y="1737360"/>
            <a:ext cx="640080" cy="640080"/>
          </a:xfrm>
          <a:prstGeom prst="ellipse">
            <a:avLst/>
          </a:prstGeom>
          <a:solidFill>
            <a:srgbClr val="0D1B2A"/>
          </a:solidFill>
          <a:ln w="12700">
            <a:solidFill>
              <a:srgbClr val="0D1B2A"/>
            </a:solidFill>
            <a:prstDash val="solid"/>
          </a:ln>
        </p:spPr>
        <p:txBody>
          <a:bodyPr/>
          <a:lstStyle/>
          <a:p>
            <a:endParaRPr lang="en-US"/>
          </a:p>
        </p:txBody>
      </p:sp>
      <p:sp>
        <p:nvSpPr>
          <p:cNvPr id="17" name="Text 15"/>
          <p:cNvSpPr/>
          <p:nvPr/>
        </p:nvSpPr>
        <p:spPr>
          <a:xfrm>
            <a:off x="5303520" y="1737360"/>
            <a:ext cx="640080" cy="640080"/>
          </a:xfrm>
          <a:prstGeom prst="rect">
            <a:avLst/>
          </a:prstGeom>
          <a:noFill/>
          <a:ln/>
        </p:spPr>
        <p:txBody>
          <a:bodyPr wrap="square" lIns="0" tIns="0" rIns="0" bIns="0" rtlCol="0" anchor="ctr"/>
          <a:lstStyle/>
          <a:p>
            <a:pPr marL="0" indent="0" algn="ctr">
              <a:buNone/>
            </a:pPr>
            <a:r>
              <a:rPr lang="en-US" sz="1600" b="1" dirty="0">
                <a:solidFill>
                  <a:srgbClr val="00C2CB"/>
                </a:solidFill>
              </a:rPr>
              <a:t>3</a:t>
            </a:r>
            <a:endParaRPr lang="en-US" sz="1600" dirty="0"/>
          </a:p>
        </p:txBody>
      </p:sp>
      <p:sp>
        <p:nvSpPr>
          <p:cNvPr id="18" name="Text 16"/>
          <p:cNvSpPr/>
          <p:nvPr/>
        </p:nvSpPr>
        <p:spPr>
          <a:xfrm>
            <a:off x="4709160" y="2487168"/>
            <a:ext cx="1828800" cy="50292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Penetration Testing</a:t>
            </a:r>
            <a:endParaRPr lang="en-US" sz="1200" dirty="0"/>
          </a:p>
        </p:txBody>
      </p:sp>
      <p:sp>
        <p:nvSpPr>
          <p:cNvPr id="19" name="Text 17"/>
          <p:cNvSpPr/>
          <p:nvPr/>
        </p:nvSpPr>
        <p:spPr>
          <a:xfrm>
            <a:off x="4709160" y="3017520"/>
            <a:ext cx="1828800" cy="1600200"/>
          </a:xfrm>
          <a:prstGeom prst="rect">
            <a:avLst/>
          </a:prstGeom>
          <a:noFill/>
          <a:ln/>
        </p:spPr>
        <p:txBody>
          <a:bodyPr wrap="square"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Complements scanning with human-led exploitation. Validates real-world attack paths.</a:t>
            </a:r>
            <a:endParaRPr lang="en-US" sz="1050" dirty="0"/>
          </a:p>
        </p:txBody>
      </p:sp>
      <p:sp>
        <p:nvSpPr>
          <p:cNvPr id="20" name="Shape 18"/>
          <p:cNvSpPr/>
          <p:nvPr/>
        </p:nvSpPr>
        <p:spPr>
          <a:xfrm>
            <a:off x="6812280" y="1600200"/>
            <a:ext cx="2011680" cy="320040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7498080" y="1737360"/>
            <a:ext cx="640080" cy="640080"/>
          </a:xfrm>
          <a:prstGeom prst="ellipse">
            <a:avLst/>
          </a:prstGeom>
          <a:solidFill>
            <a:srgbClr val="0D1B2A"/>
          </a:solidFill>
          <a:ln w="12700">
            <a:solidFill>
              <a:srgbClr val="0D1B2A"/>
            </a:solidFill>
            <a:prstDash val="solid"/>
          </a:ln>
        </p:spPr>
        <p:txBody>
          <a:bodyPr/>
          <a:lstStyle/>
          <a:p>
            <a:endParaRPr lang="en-US"/>
          </a:p>
        </p:txBody>
      </p:sp>
      <p:sp>
        <p:nvSpPr>
          <p:cNvPr id="22" name="Text 20"/>
          <p:cNvSpPr/>
          <p:nvPr/>
        </p:nvSpPr>
        <p:spPr>
          <a:xfrm>
            <a:off x="7498080" y="1737360"/>
            <a:ext cx="640080" cy="640080"/>
          </a:xfrm>
          <a:prstGeom prst="rect">
            <a:avLst/>
          </a:prstGeom>
          <a:noFill/>
          <a:ln/>
        </p:spPr>
        <p:txBody>
          <a:bodyPr wrap="square" lIns="0" tIns="0" rIns="0" bIns="0" rtlCol="0" anchor="ctr"/>
          <a:lstStyle/>
          <a:p>
            <a:pPr marL="0" indent="0" algn="ctr">
              <a:buNone/>
            </a:pPr>
            <a:r>
              <a:rPr lang="en-US" sz="1600" b="1" dirty="0">
                <a:solidFill>
                  <a:srgbClr val="00C2CB"/>
                </a:solidFill>
              </a:rPr>
              <a:t>4</a:t>
            </a:r>
            <a:endParaRPr lang="en-US" sz="1600" dirty="0"/>
          </a:p>
        </p:txBody>
      </p:sp>
      <p:sp>
        <p:nvSpPr>
          <p:cNvPr id="23" name="Text 21"/>
          <p:cNvSpPr/>
          <p:nvPr/>
        </p:nvSpPr>
        <p:spPr>
          <a:xfrm>
            <a:off x="6903720" y="2487168"/>
            <a:ext cx="1828800" cy="50292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Threat Intelligence</a:t>
            </a:r>
            <a:endParaRPr lang="en-US" sz="1200" dirty="0"/>
          </a:p>
        </p:txBody>
      </p:sp>
      <p:sp>
        <p:nvSpPr>
          <p:cNvPr id="24" name="Text 22"/>
          <p:cNvSpPr/>
          <p:nvPr/>
        </p:nvSpPr>
        <p:spPr>
          <a:xfrm>
            <a:off x="6903720" y="3017520"/>
            <a:ext cx="1828800" cy="1600200"/>
          </a:xfrm>
          <a:prstGeom prst="rect">
            <a:avLst/>
          </a:prstGeom>
          <a:noFill/>
          <a:ln/>
        </p:spPr>
        <p:txBody>
          <a:bodyPr wrap="square"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Enrich findings with exploit data, active campaigns, and adversary TTPs to focus effort.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91440" y="591742"/>
            <a:ext cx="9144000" cy="914400"/>
          </a:xfrm>
          <a:prstGeom prst="rect">
            <a:avLst/>
          </a:prstGeom>
          <a:solidFill>
            <a:srgbClr val="091321"/>
          </a:solidFill>
          <a:ln w="12700">
            <a:solidFill>
              <a:srgbClr val="091321"/>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03  |  RISK-BASED PRIORITIZATION</a:t>
            </a:r>
            <a:endParaRPr lang="en-US" sz="1400" dirty="0"/>
          </a:p>
        </p:txBody>
      </p:sp>
      <p:sp>
        <p:nvSpPr>
          <p:cNvPr id="4" name="Text 2"/>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Why Patching Everything Isn't a Strategy</a:t>
            </a:r>
            <a:endParaRPr lang="en-US" sz="2400" dirty="0"/>
          </a:p>
        </p:txBody>
      </p:sp>
      <p:sp>
        <p:nvSpPr>
          <p:cNvPr id="5" name="Text 3"/>
          <p:cNvSpPr/>
          <p:nvPr/>
        </p:nvSpPr>
        <p:spPr>
          <a:xfrm>
            <a:off x="365760" y="1572768"/>
            <a:ext cx="4114800" cy="365760"/>
          </a:xfrm>
          <a:prstGeom prst="rect">
            <a:avLst/>
          </a:prstGeom>
          <a:noFill/>
          <a:ln/>
        </p:spPr>
        <p:txBody>
          <a:bodyPr wrap="square" rtlCol="0" anchor="ctr"/>
          <a:lstStyle/>
          <a:p>
            <a:pPr marL="0" indent="0">
              <a:buNone/>
            </a:pPr>
            <a:r>
              <a:rPr lang="en-US" sz="1300" i="1" dirty="0">
                <a:solidFill>
                  <a:srgbClr val="D1D5DB"/>
                </a:solidFill>
                <a:latin typeface="Calibri" pitchFamily="34" charset="0"/>
                <a:ea typeface="Calibri" pitchFamily="34" charset="-122"/>
                <a:cs typeface="Calibri" pitchFamily="34" charset="-120"/>
              </a:rPr>
              <a:t>Risk Score = f(</a:t>
            </a:r>
            <a:endParaRPr lang="en-US" sz="1300" dirty="0"/>
          </a:p>
        </p:txBody>
      </p:sp>
      <p:sp>
        <p:nvSpPr>
          <p:cNvPr id="6" name="Shape 4"/>
          <p:cNvSpPr/>
          <p:nvPr/>
        </p:nvSpPr>
        <p:spPr>
          <a:xfrm>
            <a:off x="365760" y="1920240"/>
            <a:ext cx="109728" cy="320040"/>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566928" y="1920240"/>
            <a:ext cx="201168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CVSS Score</a:t>
            </a:r>
            <a:endParaRPr lang="en-US" sz="1150" dirty="0"/>
          </a:p>
        </p:txBody>
      </p:sp>
      <p:sp>
        <p:nvSpPr>
          <p:cNvPr id="8" name="Text 6"/>
          <p:cNvSpPr/>
          <p:nvPr/>
        </p:nvSpPr>
        <p:spPr>
          <a:xfrm>
            <a:off x="2651760" y="1920240"/>
            <a:ext cx="2103120" cy="320040"/>
          </a:xfrm>
          <a:prstGeom prst="rect">
            <a:avLst/>
          </a:prstGeom>
          <a:noFill/>
          <a:ln/>
        </p:spPr>
        <p:txBody>
          <a:bodyPr wrap="square" lIns="0" tIns="0" rIns="0" bIns="0" rtlCol="0" anchor="ctr"/>
          <a:lstStyle/>
          <a:p>
            <a:pPr marL="0" indent="0">
              <a:buNone/>
            </a:pPr>
            <a:r>
              <a:rPr lang="en-US" sz="1000" i="1" dirty="0">
                <a:solidFill>
                  <a:srgbClr val="D1D5DB"/>
                </a:solidFill>
                <a:latin typeface="Calibri" pitchFamily="34" charset="0"/>
                <a:ea typeface="Calibri" pitchFamily="34" charset="-122"/>
                <a:cs typeface="Calibri" pitchFamily="34" charset="-120"/>
              </a:rPr>
              <a:t>Useful baseline, not sufficient alone</a:t>
            </a:r>
            <a:endParaRPr lang="en-US" sz="1000" dirty="0"/>
          </a:p>
        </p:txBody>
      </p:sp>
      <p:sp>
        <p:nvSpPr>
          <p:cNvPr id="9" name="Shape 7"/>
          <p:cNvSpPr/>
          <p:nvPr/>
        </p:nvSpPr>
        <p:spPr>
          <a:xfrm>
            <a:off x="365760" y="2404872"/>
            <a:ext cx="109728" cy="320040"/>
          </a:xfrm>
          <a:prstGeom prst="rect">
            <a:avLst/>
          </a:prstGeom>
          <a:solidFill>
            <a:srgbClr val="EF4444"/>
          </a:solidFill>
          <a:ln w="12700">
            <a:solidFill>
              <a:srgbClr val="EF4444"/>
            </a:solidFill>
            <a:prstDash val="solid"/>
          </a:ln>
        </p:spPr>
        <p:txBody>
          <a:bodyPr/>
          <a:lstStyle/>
          <a:p>
            <a:endParaRPr lang="en-US"/>
          </a:p>
        </p:txBody>
      </p:sp>
      <p:sp>
        <p:nvSpPr>
          <p:cNvPr id="10" name="Text 8"/>
          <p:cNvSpPr/>
          <p:nvPr/>
        </p:nvSpPr>
        <p:spPr>
          <a:xfrm>
            <a:off x="566928" y="2404872"/>
            <a:ext cx="201168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Exploitability (EPSS)</a:t>
            </a:r>
            <a:endParaRPr lang="en-US" sz="1150" dirty="0"/>
          </a:p>
        </p:txBody>
      </p:sp>
      <p:sp>
        <p:nvSpPr>
          <p:cNvPr id="11" name="Text 9"/>
          <p:cNvSpPr/>
          <p:nvPr/>
        </p:nvSpPr>
        <p:spPr>
          <a:xfrm>
            <a:off x="2651760" y="2404872"/>
            <a:ext cx="2103120" cy="320040"/>
          </a:xfrm>
          <a:prstGeom prst="rect">
            <a:avLst/>
          </a:prstGeom>
          <a:noFill/>
          <a:ln/>
        </p:spPr>
        <p:txBody>
          <a:bodyPr wrap="square" lIns="0" tIns="0" rIns="0" bIns="0" rtlCol="0" anchor="ctr"/>
          <a:lstStyle/>
          <a:p>
            <a:pPr marL="0" indent="0">
              <a:buNone/>
            </a:pPr>
            <a:r>
              <a:rPr lang="en-US" sz="1000" i="1" dirty="0">
                <a:solidFill>
                  <a:srgbClr val="D1D5DB"/>
                </a:solidFill>
                <a:latin typeface="Calibri" pitchFamily="34" charset="0"/>
                <a:ea typeface="Calibri" pitchFamily="34" charset="-122"/>
                <a:cs typeface="Calibri" pitchFamily="34" charset="-120"/>
              </a:rPr>
              <a:t>How likely is active exploitation?</a:t>
            </a:r>
            <a:endParaRPr lang="en-US" sz="1000" dirty="0"/>
          </a:p>
        </p:txBody>
      </p:sp>
      <p:sp>
        <p:nvSpPr>
          <p:cNvPr id="12" name="Shape 10"/>
          <p:cNvSpPr/>
          <p:nvPr/>
        </p:nvSpPr>
        <p:spPr>
          <a:xfrm>
            <a:off x="365760" y="2889504"/>
            <a:ext cx="109728" cy="320040"/>
          </a:xfrm>
          <a:prstGeom prst="rect">
            <a:avLst/>
          </a:prstGeom>
          <a:solidFill>
            <a:srgbClr val="EF4444"/>
          </a:solidFill>
          <a:ln w="12700">
            <a:solidFill>
              <a:srgbClr val="EF4444"/>
            </a:solidFill>
            <a:prstDash val="solid"/>
          </a:ln>
        </p:spPr>
        <p:txBody>
          <a:bodyPr/>
          <a:lstStyle/>
          <a:p>
            <a:endParaRPr lang="en-US"/>
          </a:p>
        </p:txBody>
      </p:sp>
      <p:sp>
        <p:nvSpPr>
          <p:cNvPr id="13" name="Text 11"/>
          <p:cNvSpPr/>
          <p:nvPr/>
        </p:nvSpPr>
        <p:spPr>
          <a:xfrm>
            <a:off x="566928" y="2889504"/>
            <a:ext cx="201168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CISA KEV Catalog</a:t>
            </a:r>
            <a:endParaRPr lang="en-US" sz="1150" dirty="0"/>
          </a:p>
        </p:txBody>
      </p:sp>
      <p:sp>
        <p:nvSpPr>
          <p:cNvPr id="14" name="Text 12"/>
          <p:cNvSpPr/>
          <p:nvPr/>
        </p:nvSpPr>
        <p:spPr>
          <a:xfrm>
            <a:off x="2651760" y="2889504"/>
            <a:ext cx="2103120" cy="320040"/>
          </a:xfrm>
          <a:prstGeom prst="rect">
            <a:avLst/>
          </a:prstGeom>
          <a:noFill/>
          <a:ln/>
        </p:spPr>
        <p:txBody>
          <a:bodyPr wrap="square" lIns="0" tIns="0" rIns="0" bIns="0" rtlCol="0" anchor="ctr"/>
          <a:lstStyle/>
          <a:p>
            <a:pPr marL="0" indent="0">
              <a:buNone/>
            </a:pPr>
            <a:r>
              <a:rPr lang="en-US" sz="1000" i="1" dirty="0">
                <a:solidFill>
                  <a:srgbClr val="D1D5DB"/>
                </a:solidFill>
                <a:latin typeface="Calibri" pitchFamily="34" charset="0"/>
                <a:ea typeface="Calibri" pitchFamily="34" charset="-122"/>
                <a:cs typeface="Calibri" pitchFamily="34" charset="-120"/>
              </a:rPr>
              <a:t>Known exploited vulnerabilities in the wild</a:t>
            </a:r>
            <a:endParaRPr lang="en-US" sz="1000" dirty="0"/>
          </a:p>
        </p:txBody>
      </p:sp>
      <p:sp>
        <p:nvSpPr>
          <p:cNvPr id="15" name="Shape 13"/>
          <p:cNvSpPr/>
          <p:nvPr/>
        </p:nvSpPr>
        <p:spPr>
          <a:xfrm>
            <a:off x="365760" y="3374136"/>
            <a:ext cx="109728" cy="320040"/>
          </a:xfrm>
          <a:prstGeom prst="rect">
            <a:avLst/>
          </a:prstGeom>
          <a:solidFill>
            <a:srgbClr val="00C2CB"/>
          </a:solidFill>
          <a:ln w="12700">
            <a:solidFill>
              <a:srgbClr val="00C2CB"/>
            </a:solidFill>
            <a:prstDash val="solid"/>
          </a:ln>
        </p:spPr>
        <p:txBody>
          <a:bodyPr/>
          <a:lstStyle/>
          <a:p>
            <a:endParaRPr lang="en-US"/>
          </a:p>
        </p:txBody>
      </p:sp>
      <p:sp>
        <p:nvSpPr>
          <p:cNvPr id="16" name="Text 14"/>
          <p:cNvSpPr/>
          <p:nvPr/>
        </p:nvSpPr>
        <p:spPr>
          <a:xfrm>
            <a:off x="566928" y="3374136"/>
            <a:ext cx="201168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Asset Criticality</a:t>
            </a:r>
            <a:endParaRPr lang="en-US" sz="1150" dirty="0"/>
          </a:p>
        </p:txBody>
      </p:sp>
      <p:sp>
        <p:nvSpPr>
          <p:cNvPr id="17" name="Text 15"/>
          <p:cNvSpPr/>
          <p:nvPr/>
        </p:nvSpPr>
        <p:spPr>
          <a:xfrm>
            <a:off x="2651760" y="3374136"/>
            <a:ext cx="2103120" cy="320040"/>
          </a:xfrm>
          <a:prstGeom prst="rect">
            <a:avLst/>
          </a:prstGeom>
          <a:noFill/>
          <a:ln/>
        </p:spPr>
        <p:txBody>
          <a:bodyPr wrap="square" lIns="0" tIns="0" rIns="0" bIns="0" rtlCol="0" anchor="ctr"/>
          <a:lstStyle/>
          <a:p>
            <a:pPr marL="0" indent="0">
              <a:buNone/>
            </a:pPr>
            <a:r>
              <a:rPr lang="en-US" sz="1000" i="1" dirty="0">
                <a:solidFill>
                  <a:srgbClr val="D1D5DB"/>
                </a:solidFill>
                <a:latin typeface="Calibri" pitchFamily="34" charset="0"/>
                <a:ea typeface="Calibri" pitchFamily="34" charset="-122"/>
                <a:cs typeface="Calibri" pitchFamily="34" charset="-120"/>
              </a:rPr>
              <a:t>Crown jewels vs. dev sandbox?</a:t>
            </a:r>
            <a:endParaRPr lang="en-US" sz="1000" dirty="0"/>
          </a:p>
        </p:txBody>
      </p:sp>
      <p:sp>
        <p:nvSpPr>
          <p:cNvPr id="18" name="Shape 16"/>
          <p:cNvSpPr/>
          <p:nvPr/>
        </p:nvSpPr>
        <p:spPr>
          <a:xfrm>
            <a:off x="365760" y="3858768"/>
            <a:ext cx="109728" cy="320040"/>
          </a:xfrm>
          <a:prstGeom prst="rect">
            <a:avLst/>
          </a:prstGeom>
          <a:solidFill>
            <a:srgbClr val="00C2CB"/>
          </a:solidFill>
          <a:ln w="12700">
            <a:solidFill>
              <a:srgbClr val="00C2CB"/>
            </a:solidFill>
            <a:prstDash val="solid"/>
          </a:ln>
        </p:spPr>
        <p:txBody>
          <a:bodyPr/>
          <a:lstStyle/>
          <a:p>
            <a:endParaRPr lang="en-US"/>
          </a:p>
        </p:txBody>
      </p:sp>
      <p:sp>
        <p:nvSpPr>
          <p:cNvPr id="19" name="Text 17"/>
          <p:cNvSpPr/>
          <p:nvPr/>
        </p:nvSpPr>
        <p:spPr>
          <a:xfrm>
            <a:off x="566928" y="3858768"/>
            <a:ext cx="201168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Data Sensitivity</a:t>
            </a:r>
            <a:endParaRPr lang="en-US" sz="1150" dirty="0"/>
          </a:p>
        </p:txBody>
      </p:sp>
      <p:sp>
        <p:nvSpPr>
          <p:cNvPr id="20" name="Text 18"/>
          <p:cNvSpPr/>
          <p:nvPr/>
        </p:nvSpPr>
        <p:spPr>
          <a:xfrm>
            <a:off x="2651760" y="3858768"/>
            <a:ext cx="2103120" cy="320040"/>
          </a:xfrm>
          <a:prstGeom prst="rect">
            <a:avLst/>
          </a:prstGeom>
          <a:noFill/>
          <a:ln/>
        </p:spPr>
        <p:txBody>
          <a:bodyPr wrap="square" lIns="0" tIns="0" rIns="0" bIns="0" rtlCol="0" anchor="ctr"/>
          <a:lstStyle/>
          <a:p>
            <a:pPr marL="0" indent="0">
              <a:buNone/>
            </a:pPr>
            <a:r>
              <a:rPr lang="en-US" sz="1000" i="1" dirty="0">
                <a:solidFill>
                  <a:srgbClr val="D1D5DB"/>
                </a:solidFill>
                <a:latin typeface="Calibri" pitchFamily="34" charset="0"/>
                <a:ea typeface="Calibri" pitchFamily="34" charset="-122"/>
                <a:cs typeface="Calibri" pitchFamily="34" charset="-120"/>
              </a:rPr>
              <a:t>PII, PCI, PHI exposure?</a:t>
            </a:r>
            <a:endParaRPr lang="en-US" sz="1000" dirty="0"/>
          </a:p>
        </p:txBody>
      </p:sp>
      <p:sp>
        <p:nvSpPr>
          <p:cNvPr id="21" name="Shape 19"/>
          <p:cNvSpPr/>
          <p:nvPr/>
        </p:nvSpPr>
        <p:spPr>
          <a:xfrm>
            <a:off x="365760" y="4343400"/>
            <a:ext cx="109728" cy="320040"/>
          </a:xfrm>
          <a:prstGeom prst="rect">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566928" y="4343400"/>
            <a:ext cx="201168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Exposure / Reachability</a:t>
            </a:r>
            <a:endParaRPr lang="en-US" sz="1150" dirty="0"/>
          </a:p>
        </p:txBody>
      </p:sp>
      <p:sp>
        <p:nvSpPr>
          <p:cNvPr id="23" name="Text 21"/>
          <p:cNvSpPr/>
          <p:nvPr/>
        </p:nvSpPr>
        <p:spPr>
          <a:xfrm>
            <a:off x="2651760" y="4343400"/>
            <a:ext cx="2103120" cy="320040"/>
          </a:xfrm>
          <a:prstGeom prst="rect">
            <a:avLst/>
          </a:prstGeom>
          <a:noFill/>
          <a:ln/>
        </p:spPr>
        <p:txBody>
          <a:bodyPr wrap="square" lIns="0" tIns="0" rIns="0" bIns="0" rtlCol="0" anchor="ctr"/>
          <a:lstStyle/>
          <a:p>
            <a:pPr marL="0" indent="0">
              <a:buNone/>
            </a:pPr>
            <a:r>
              <a:rPr lang="en-US" sz="1000" i="1" dirty="0">
                <a:solidFill>
                  <a:srgbClr val="D1D5DB"/>
                </a:solidFill>
                <a:latin typeface="Calibri" pitchFamily="34" charset="0"/>
                <a:ea typeface="Calibri" pitchFamily="34" charset="-122"/>
                <a:cs typeface="Calibri" pitchFamily="34" charset="-120"/>
              </a:rPr>
              <a:t>Internet-facing vs. isolated?</a:t>
            </a:r>
            <a:endParaRPr lang="en-US" sz="1000" dirty="0"/>
          </a:p>
        </p:txBody>
      </p:sp>
      <p:sp>
        <p:nvSpPr>
          <p:cNvPr id="24" name="Shape 22"/>
          <p:cNvSpPr/>
          <p:nvPr/>
        </p:nvSpPr>
        <p:spPr>
          <a:xfrm>
            <a:off x="5029200" y="1371600"/>
            <a:ext cx="3749040" cy="3474720"/>
          </a:xfrm>
          <a:prstGeom prst="rect">
            <a:avLst/>
          </a:prstGeom>
          <a:solidFill>
            <a:srgbClr val="0A1929"/>
          </a:solidFill>
          <a:ln w="12700">
            <a:solidFill>
              <a:srgbClr val="009AA3"/>
            </a:solidFill>
            <a:prstDash val="solid"/>
          </a:ln>
        </p:spPr>
        <p:txBody>
          <a:bodyPr/>
          <a:lstStyle/>
          <a:p>
            <a:endParaRPr lang="en-US"/>
          </a:p>
        </p:txBody>
      </p:sp>
      <p:sp>
        <p:nvSpPr>
          <p:cNvPr id="25" name="Text 23"/>
          <p:cNvSpPr/>
          <p:nvPr/>
        </p:nvSpPr>
        <p:spPr>
          <a:xfrm>
            <a:off x="5148072" y="1408176"/>
            <a:ext cx="3566160" cy="365760"/>
          </a:xfrm>
          <a:prstGeom prst="rect">
            <a:avLst/>
          </a:prstGeom>
          <a:noFill/>
          <a:ln/>
        </p:spPr>
        <p:txBody>
          <a:bodyPr wrap="square" rtlCol="0" anchor="ctr"/>
          <a:lstStyle/>
          <a:p>
            <a:pPr marL="0" indent="0" algn="ctr">
              <a:buNone/>
            </a:pPr>
            <a:r>
              <a:rPr lang="en-US" sz="1100" b="1" kern="0" spc="200" dirty="0">
                <a:solidFill>
                  <a:srgbClr val="00C2CB"/>
                </a:solidFill>
              </a:rPr>
              <a:t>PRIORITY MATRIX</a:t>
            </a:r>
            <a:endParaRPr lang="en-US" sz="1100" dirty="0"/>
          </a:p>
        </p:txBody>
      </p:sp>
      <p:sp>
        <p:nvSpPr>
          <p:cNvPr id="26" name="Shape 24"/>
          <p:cNvSpPr/>
          <p:nvPr/>
        </p:nvSpPr>
        <p:spPr>
          <a:xfrm>
            <a:off x="5166360" y="1874520"/>
            <a:ext cx="3474720" cy="502920"/>
          </a:xfrm>
          <a:prstGeom prst="rect">
            <a:avLst/>
          </a:prstGeom>
          <a:solidFill>
            <a:srgbClr val="EF4444">
              <a:alpha val="20000"/>
            </a:srgbClr>
          </a:solidFill>
          <a:ln w="12700">
            <a:solidFill>
              <a:srgbClr val="EF4444"/>
            </a:solidFill>
            <a:prstDash val="solid"/>
          </a:ln>
        </p:spPr>
        <p:txBody>
          <a:bodyPr/>
          <a:lstStyle/>
          <a:p>
            <a:endParaRPr lang="en-US"/>
          </a:p>
        </p:txBody>
      </p:sp>
      <p:sp>
        <p:nvSpPr>
          <p:cNvPr id="27" name="Shape 25"/>
          <p:cNvSpPr/>
          <p:nvPr/>
        </p:nvSpPr>
        <p:spPr>
          <a:xfrm>
            <a:off x="5166360" y="1874520"/>
            <a:ext cx="54864" cy="502920"/>
          </a:xfrm>
          <a:prstGeom prst="rect">
            <a:avLst/>
          </a:prstGeom>
          <a:solidFill>
            <a:srgbClr val="EF4444"/>
          </a:solidFill>
          <a:ln w="12700">
            <a:solidFill>
              <a:srgbClr val="EF4444"/>
            </a:solidFill>
            <a:prstDash val="solid"/>
          </a:ln>
        </p:spPr>
        <p:txBody>
          <a:bodyPr/>
          <a:lstStyle/>
          <a:p>
            <a:endParaRPr lang="en-US"/>
          </a:p>
        </p:txBody>
      </p:sp>
      <p:sp>
        <p:nvSpPr>
          <p:cNvPr id="28" name="Text 26"/>
          <p:cNvSpPr/>
          <p:nvPr/>
        </p:nvSpPr>
        <p:spPr>
          <a:xfrm>
            <a:off x="5303520" y="1874520"/>
            <a:ext cx="1371600" cy="502920"/>
          </a:xfrm>
          <a:prstGeom prst="rect">
            <a:avLst/>
          </a:prstGeom>
          <a:noFill/>
          <a:ln/>
        </p:spPr>
        <p:txBody>
          <a:bodyPr wrap="square" lIns="0" tIns="0" rIns="0" bIns="0" rtlCol="0" anchor="ctr"/>
          <a:lstStyle/>
          <a:p>
            <a:pPr marL="0" indent="0">
              <a:buNone/>
            </a:pPr>
            <a:r>
              <a:rPr lang="en-US" sz="1000" b="1" dirty="0">
                <a:solidFill>
                  <a:srgbClr val="FFFFFF"/>
                </a:solidFill>
              </a:rPr>
              <a:t>CRITICAL</a:t>
            </a:r>
            <a:endParaRPr lang="en-US" sz="1000" dirty="0"/>
          </a:p>
        </p:txBody>
      </p:sp>
      <p:sp>
        <p:nvSpPr>
          <p:cNvPr id="29" name="Text 27"/>
          <p:cNvSpPr/>
          <p:nvPr/>
        </p:nvSpPr>
        <p:spPr>
          <a:xfrm>
            <a:off x="6720840" y="1874520"/>
            <a:ext cx="1828800" cy="502920"/>
          </a:xfrm>
          <a:prstGeom prst="rect">
            <a:avLst/>
          </a:prstGeom>
          <a:noFill/>
          <a:ln/>
        </p:spPr>
        <p:txBody>
          <a:bodyPr wrap="square" lIns="0" tIns="0" rIns="0" bIns="0" rtlCol="0" anchor="ctr"/>
          <a:lstStyle/>
          <a:p>
            <a:pPr marL="0" indent="0">
              <a:buNone/>
            </a:pPr>
            <a:r>
              <a:rPr lang="en-US" sz="1000" dirty="0">
                <a:solidFill>
                  <a:srgbClr val="D1D5DB"/>
                </a:solidFill>
              </a:rPr>
              <a:t>SLA: 24–72 hours</a:t>
            </a:r>
            <a:endParaRPr lang="en-US" sz="1000" dirty="0"/>
          </a:p>
        </p:txBody>
      </p:sp>
      <p:sp>
        <p:nvSpPr>
          <p:cNvPr id="30" name="Shape 28"/>
          <p:cNvSpPr/>
          <p:nvPr/>
        </p:nvSpPr>
        <p:spPr>
          <a:xfrm>
            <a:off x="5166360" y="2514600"/>
            <a:ext cx="3474720" cy="502920"/>
          </a:xfrm>
          <a:prstGeom prst="rect">
            <a:avLst/>
          </a:prstGeom>
          <a:solidFill>
            <a:srgbClr val="F59E0B">
              <a:alpha val="20000"/>
            </a:srgbClr>
          </a:solidFill>
          <a:ln w="12700">
            <a:solidFill>
              <a:srgbClr val="F59E0B"/>
            </a:solidFill>
            <a:prstDash val="solid"/>
          </a:ln>
        </p:spPr>
        <p:txBody>
          <a:bodyPr/>
          <a:lstStyle/>
          <a:p>
            <a:endParaRPr lang="en-US"/>
          </a:p>
        </p:txBody>
      </p:sp>
      <p:sp>
        <p:nvSpPr>
          <p:cNvPr id="31" name="Shape 29"/>
          <p:cNvSpPr/>
          <p:nvPr/>
        </p:nvSpPr>
        <p:spPr>
          <a:xfrm>
            <a:off x="5166360" y="2514600"/>
            <a:ext cx="54864" cy="502920"/>
          </a:xfrm>
          <a:prstGeom prst="rect">
            <a:avLst/>
          </a:prstGeom>
          <a:solidFill>
            <a:srgbClr val="F59E0B"/>
          </a:solidFill>
          <a:ln w="12700">
            <a:solidFill>
              <a:srgbClr val="F59E0B"/>
            </a:solidFill>
            <a:prstDash val="solid"/>
          </a:ln>
        </p:spPr>
        <p:txBody>
          <a:bodyPr/>
          <a:lstStyle/>
          <a:p>
            <a:endParaRPr lang="en-US"/>
          </a:p>
        </p:txBody>
      </p:sp>
      <p:sp>
        <p:nvSpPr>
          <p:cNvPr id="32" name="Text 30"/>
          <p:cNvSpPr/>
          <p:nvPr/>
        </p:nvSpPr>
        <p:spPr>
          <a:xfrm>
            <a:off x="5303520" y="2514600"/>
            <a:ext cx="1371600" cy="502920"/>
          </a:xfrm>
          <a:prstGeom prst="rect">
            <a:avLst/>
          </a:prstGeom>
          <a:noFill/>
          <a:ln/>
        </p:spPr>
        <p:txBody>
          <a:bodyPr wrap="square" lIns="0" tIns="0" rIns="0" bIns="0" rtlCol="0" anchor="ctr"/>
          <a:lstStyle/>
          <a:p>
            <a:pPr marL="0" indent="0">
              <a:buNone/>
            </a:pPr>
            <a:r>
              <a:rPr lang="en-US" sz="1000" b="1" dirty="0">
                <a:solidFill>
                  <a:srgbClr val="FFFFFF"/>
                </a:solidFill>
              </a:rPr>
              <a:t>HIGH</a:t>
            </a:r>
            <a:endParaRPr lang="en-US" sz="1000" dirty="0"/>
          </a:p>
        </p:txBody>
      </p:sp>
      <p:sp>
        <p:nvSpPr>
          <p:cNvPr id="33" name="Text 31"/>
          <p:cNvSpPr/>
          <p:nvPr/>
        </p:nvSpPr>
        <p:spPr>
          <a:xfrm>
            <a:off x="6720840" y="2514600"/>
            <a:ext cx="1828800" cy="502920"/>
          </a:xfrm>
          <a:prstGeom prst="rect">
            <a:avLst/>
          </a:prstGeom>
          <a:noFill/>
          <a:ln/>
        </p:spPr>
        <p:txBody>
          <a:bodyPr wrap="square" lIns="0" tIns="0" rIns="0" bIns="0" rtlCol="0" anchor="ctr"/>
          <a:lstStyle/>
          <a:p>
            <a:pPr marL="0" indent="0">
              <a:buNone/>
            </a:pPr>
            <a:r>
              <a:rPr lang="en-US" sz="1000" dirty="0">
                <a:solidFill>
                  <a:srgbClr val="D1D5DB"/>
                </a:solidFill>
              </a:rPr>
              <a:t>SLA: 30 days</a:t>
            </a:r>
            <a:endParaRPr lang="en-US" sz="1000" dirty="0"/>
          </a:p>
        </p:txBody>
      </p:sp>
      <p:sp>
        <p:nvSpPr>
          <p:cNvPr id="34" name="Shape 32"/>
          <p:cNvSpPr/>
          <p:nvPr/>
        </p:nvSpPr>
        <p:spPr>
          <a:xfrm>
            <a:off x="5166360" y="3154680"/>
            <a:ext cx="3474720" cy="502920"/>
          </a:xfrm>
          <a:prstGeom prst="rect">
            <a:avLst/>
          </a:prstGeom>
          <a:solidFill>
            <a:srgbClr val="3B82F6">
              <a:alpha val="20000"/>
            </a:srgbClr>
          </a:solidFill>
          <a:ln w="12700">
            <a:solidFill>
              <a:srgbClr val="3B82F6"/>
            </a:solidFill>
            <a:prstDash val="solid"/>
          </a:ln>
        </p:spPr>
        <p:txBody>
          <a:bodyPr/>
          <a:lstStyle/>
          <a:p>
            <a:endParaRPr lang="en-US"/>
          </a:p>
        </p:txBody>
      </p:sp>
      <p:sp>
        <p:nvSpPr>
          <p:cNvPr id="35" name="Shape 33"/>
          <p:cNvSpPr/>
          <p:nvPr/>
        </p:nvSpPr>
        <p:spPr>
          <a:xfrm>
            <a:off x="5166360" y="3154680"/>
            <a:ext cx="54864" cy="502920"/>
          </a:xfrm>
          <a:prstGeom prst="rect">
            <a:avLst/>
          </a:prstGeom>
          <a:solidFill>
            <a:srgbClr val="3B82F6"/>
          </a:solidFill>
          <a:ln w="12700">
            <a:solidFill>
              <a:srgbClr val="3B82F6"/>
            </a:solidFill>
            <a:prstDash val="solid"/>
          </a:ln>
        </p:spPr>
        <p:txBody>
          <a:bodyPr/>
          <a:lstStyle/>
          <a:p>
            <a:endParaRPr lang="en-US"/>
          </a:p>
        </p:txBody>
      </p:sp>
      <p:sp>
        <p:nvSpPr>
          <p:cNvPr id="36" name="Text 34"/>
          <p:cNvSpPr/>
          <p:nvPr/>
        </p:nvSpPr>
        <p:spPr>
          <a:xfrm>
            <a:off x="5303520" y="3154680"/>
            <a:ext cx="1371600" cy="502920"/>
          </a:xfrm>
          <a:prstGeom prst="rect">
            <a:avLst/>
          </a:prstGeom>
          <a:noFill/>
          <a:ln/>
        </p:spPr>
        <p:txBody>
          <a:bodyPr wrap="square" lIns="0" tIns="0" rIns="0" bIns="0" rtlCol="0" anchor="ctr"/>
          <a:lstStyle/>
          <a:p>
            <a:pPr marL="0" indent="0">
              <a:buNone/>
            </a:pPr>
            <a:r>
              <a:rPr lang="en-US" sz="1000" b="1" dirty="0">
                <a:solidFill>
                  <a:srgbClr val="FFFFFF"/>
                </a:solidFill>
              </a:rPr>
              <a:t>MEDIUM</a:t>
            </a:r>
            <a:endParaRPr lang="en-US" sz="1000" dirty="0"/>
          </a:p>
        </p:txBody>
      </p:sp>
      <p:sp>
        <p:nvSpPr>
          <p:cNvPr id="37" name="Text 35"/>
          <p:cNvSpPr/>
          <p:nvPr/>
        </p:nvSpPr>
        <p:spPr>
          <a:xfrm>
            <a:off x="6720840" y="3154680"/>
            <a:ext cx="1828800" cy="502920"/>
          </a:xfrm>
          <a:prstGeom prst="rect">
            <a:avLst/>
          </a:prstGeom>
          <a:noFill/>
          <a:ln/>
        </p:spPr>
        <p:txBody>
          <a:bodyPr wrap="square" lIns="0" tIns="0" rIns="0" bIns="0" rtlCol="0" anchor="ctr"/>
          <a:lstStyle/>
          <a:p>
            <a:pPr marL="0" indent="0">
              <a:buNone/>
            </a:pPr>
            <a:r>
              <a:rPr lang="en-US" sz="1000" dirty="0">
                <a:solidFill>
                  <a:srgbClr val="D1D5DB"/>
                </a:solidFill>
              </a:rPr>
              <a:t>SLA: 90 days</a:t>
            </a:r>
            <a:endParaRPr lang="en-US" sz="1000" dirty="0"/>
          </a:p>
        </p:txBody>
      </p:sp>
      <p:sp>
        <p:nvSpPr>
          <p:cNvPr id="38" name="Shape 36"/>
          <p:cNvSpPr/>
          <p:nvPr/>
        </p:nvSpPr>
        <p:spPr>
          <a:xfrm>
            <a:off x="5166360" y="3794760"/>
            <a:ext cx="3474720" cy="502920"/>
          </a:xfrm>
          <a:prstGeom prst="rect">
            <a:avLst/>
          </a:prstGeom>
          <a:solidFill>
            <a:srgbClr val="10B981">
              <a:alpha val="20000"/>
            </a:srgbClr>
          </a:solidFill>
          <a:ln w="12700">
            <a:solidFill>
              <a:srgbClr val="10B981"/>
            </a:solidFill>
            <a:prstDash val="solid"/>
          </a:ln>
        </p:spPr>
        <p:txBody>
          <a:bodyPr/>
          <a:lstStyle/>
          <a:p>
            <a:endParaRPr lang="en-US"/>
          </a:p>
        </p:txBody>
      </p:sp>
      <p:sp>
        <p:nvSpPr>
          <p:cNvPr id="39" name="Shape 37"/>
          <p:cNvSpPr/>
          <p:nvPr/>
        </p:nvSpPr>
        <p:spPr>
          <a:xfrm>
            <a:off x="5166360" y="3794760"/>
            <a:ext cx="54864" cy="502920"/>
          </a:xfrm>
          <a:prstGeom prst="rect">
            <a:avLst/>
          </a:prstGeom>
          <a:solidFill>
            <a:srgbClr val="10B981"/>
          </a:solidFill>
          <a:ln w="12700">
            <a:solidFill>
              <a:srgbClr val="10B981"/>
            </a:solidFill>
            <a:prstDash val="solid"/>
          </a:ln>
        </p:spPr>
        <p:txBody>
          <a:bodyPr/>
          <a:lstStyle/>
          <a:p>
            <a:endParaRPr lang="en-US"/>
          </a:p>
        </p:txBody>
      </p:sp>
      <p:sp>
        <p:nvSpPr>
          <p:cNvPr id="40" name="Text 38"/>
          <p:cNvSpPr/>
          <p:nvPr/>
        </p:nvSpPr>
        <p:spPr>
          <a:xfrm>
            <a:off x="5303520" y="3794760"/>
            <a:ext cx="1371600" cy="502920"/>
          </a:xfrm>
          <a:prstGeom prst="rect">
            <a:avLst/>
          </a:prstGeom>
          <a:noFill/>
          <a:ln/>
        </p:spPr>
        <p:txBody>
          <a:bodyPr wrap="square" lIns="0" tIns="0" rIns="0" bIns="0" rtlCol="0" anchor="ctr"/>
          <a:lstStyle/>
          <a:p>
            <a:pPr marL="0" indent="0">
              <a:buNone/>
            </a:pPr>
            <a:r>
              <a:rPr lang="en-US" sz="1000" b="1" dirty="0">
                <a:solidFill>
                  <a:srgbClr val="FFFFFF"/>
                </a:solidFill>
              </a:rPr>
              <a:t>LOW</a:t>
            </a:r>
            <a:endParaRPr lang="en-US" sz="1000" dirty="0"/>
          </a:p>
        </p:txBody>
      </p:sp>
      <p:sp>
        <p:nvSpPr>
          <p:cNvPr id="41" name="Text 39"/>
          <p:cNvSpPr/>
          <p:nvPr/>
        </p:nvSpPr>
        <p:spPr>
          <a:xfrm>
            <a:off x="6720840" y="3794760"/>
            <a:ext cx="1828800" cy="502920"/>
          </a:xfrm>
          <a:prstGeom prst="rect">
            <a:avLst/>
          </a:prstGeom>
          <a:noFill/>
          <a:ln/>
        </p:spPr>
        <p:txBody>
          <a:bodyPr wrap="square" lIns="0" tIns="0" rIns="0" bIns="0" rtlCol="0" anchor="ctr"/>
          <a:lstStyle/>
          <a:p>
            <a:pPr marL="0" indent="0">
              <a:buNone/>
            </a:pPr>
            <a:r>
              <a:rPr lang="en-US" sz="1000" dirty="0">
                <a:solidFill>
                  <a:srgbClr val="D1D5DB"/>
                </a:solidFill>
              </a:rPr>
              <a:t>SLA: 180 days / risk accept</a:t>
            </a:r>
            <a:endParaRPr lang="en-US" sz="1000" dirty="0"/>
          </a:p>
        </p:txBody>
      </p:sp>
      <p:sp>
        <p:nvSpPr>
          <p:cNvPr id="42" name="Text 23">
            <a:extLst>
              <a:ext uri="{FF2B5EF4-FFF2-40B4-BE49-F238E27FC236}">
                <a16:creationId xmlns:a16="http://schemas.microsoft.com/office/drawing/2014/main" id="{A732BE4C-D62E-070D-AF79-C0CB80A50542}"/>
              </a:ext>
            </a:extLst>
          </p:cNvPr>
          <p:cNvSpPr/>
          <p:nvPr/>
        </p:nvSpPr>
        <p:spPr>
          <a:xfrm>
            <a:off x="5074920" y="4379937"/>
            <a:ext cx="3566160" cy="365760"/>
          </a:xfrm>
          <a:prstGeom prst="rect">
            <a:avLst/>
          </a:prstGeom>
          <a:noFill/>
          <a:ln/>
        </p:spPr>
        <p:txBody>
          <a:bodyPr wrap="square" rtlCol="0" anchor="ctr"/>
          <a:lstStyle/>
          <a:p>
            <a:pPr marL="0" indent="0" algn="ctr">
              <a:buNone/>
            </a:pPr>
            <a:r>
              <a:rPr lang="en-US" sz="1100" b="1" kern="0" spc="200" dirty="0">
                <a:solidFill>
                  <a:srgbClr val="00C2CB"/>
                </a:solidFill>
              </a:rPr>
              <a:t>SLA’s will vary by Organization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04  |  REMEDIATION WORKFLOWS</a:t>
            </a:r>
            <a:endParaRPr lang="en-US" sz="1400" dirty="0"/>
          </a:p>
        </p:txBody>
      </p:sp>
      <p:sp>
        <p:nvSpPr>
          <p:cNvPr id="4" name="Text 2"/>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From Discovery to Resolution</a:t>
            </a:r>
            <a:endParaRPr lang="en-US" sz="2400" dirty="0"/>
          </a:p>
        </p:txBody>
      </p:sp>
      <p:sp>
        <p:nvSpPr>
          <p:cNvPr id="5" name="Shape 3"/>
          <p:cNvSpPr/>
          <p:nvPr/>
        </p:nvSpPr>
        <p:spPr>
          <a:xfrm>
            <a:off x="228600" y="1600200"/>
            <a:ext cx="1417320" cy="64008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228600" y="1600200"/>
            <a:ext cx="141732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Discover</a:t>
            </a:r>
            <a:endParaRPr lang="en-US" sz="1100" dirty="0"/>
          </a:p>
        </p:txBody>
      </p:sp>
      <p:sp>
        <p:nvSpPr>
          <p:cNvPr id="7" name="Shape 5"/>
          <p:cNvSpPr/>
          <p:nvPr/>
        </p:nvSpPr>
        <p:spPr>
          <a:xfrm>
            <a:off x="1645920" y="1847088"/>
            <a:ext cx="228600" cy="128016"/>
          </a:xfrm>
          <a:prstGeom prst="rect">
            <a:avLst/>
          </a:prstGeom>
          <a:solidFill>
            <a:srgbClr val="00C2CB"/>
          </a:solidFill>
          <a:ln w="12700">
            <a:solidFill>
              <a:srgbClr val="00C2CB"/>
            </a:solidFill>
            <a:prstDash val="solid"/>
          </a:ln>
        </p:spPr>
        <p:txBody>
          <a:bodyPr/>
          <a:lstStyle/>
          <a:p>
            <a:endParaRPr lang="en-US"/>
          </a:p>
        </p:txBody>
      </p:sp>
      <p:sp>
        <p:nvSpPr>
          <p:cNvPr id="8" name="Shape 6"/>
          <p:cNvSpPr/>
          <p:nvPr/>
        </p:nvSpPr>
        <p:spPr>
          <a:xfrm>
            <a:off x="1874520" y="1600200"/>
            <a:ext cx="1417320" cy="64008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1874520" y="1600200"/>
            <a:ext cx="141732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Prioritize</a:t>
            </a:r>
            <a:endParaRPr lang="en-US" sz="1100" dirty="0"/>
          </a:p>
        </p:txBody>
      </p:sp>
      <p:sp>
        <p:nvSpPr>
          <p:cNvPr id="10" name="Shape 8"/>
          <p:cNvSpPr/>
          <p:nvPr/>
        </p:nvSpPr>
        <p:spPr>
          <a:xfrm>
            <a:off x="3291840" y="1847088"/>
            <a:ext cx="228600" cy="128016"/>
          </a:xfrm>
          <a:prstGeom prst="rect">
            <a:avLst/>
          </a:prstGeom>
          <a:solidFill>
            <a:srgbClr val="00C2CB"/>
          </a:solidFill>
          <a:ln w="12700">
            <a:solidFill>
              <a:srgbClr val="00C2CB"/>
            </a:solidFill>
            <a:prstDash val="solid"/>
          </a:ln>
        </p:spPr>
        <p:txBody>
          <a:bodyPr/>
          <a:lstStyle/>
          <a:p>
            <a:endParaRPr lang="en-US"/>
          </a:p>
        </p:txBody>
      </p:sp>
      <p:sp>
        <p:nvSpPr>
          <p:cNvPr id="11" name="Shape 9"/>
          <p:cNvSpPr/>
          <p:nvPr/>
        </p:nvSpPr>
        <p:spPr>
          <a:xfrm>
            <a:off x="3520440" y="1600200"/>
            <a:ext cx="1417320" cy="64008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3520440" y="1600200"/>
            <a:ext cx="141732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Assign Owner</a:t>
            </a:r>
            <a:endParaRPr lang="en-US" sz="1100" dirty="0"/>
          </a:p>
        </p:txBody>
      </p:sp>
      <p:sp>
        <p:nvSpPr>
          <p:cNvPr id="13" name="Shape 11"/>
          <p:cNvSpPr/>
          <p:nvPr/>
        </p:nvSpPr>
        <p:spPr>
          <a:xfrm>
            <a:off x="4937760" y="1847088"/>
            <a:ext cx="228600" cy="128016"/>
          </a:xfrm>
          <a:prstGeom prst="rect">
            <a:avLst/>
          </a:prstGeom>
          <a:solidFill>
            <a:srgbClr val="00C2CB"/>
          </a:solidFill>
          <a:ln w="12700">
            <a:solidFill>
              <a:srgbClr val="00C2CB"/>
            </a:solidFill>
            <a:prstDash val="solid"/>
          </a:ln>
        </p:spPr>
        <p:txBody>
          <a:bodyPr/>
          <a:lstStyle/>
          <a:p>
            <a:endParaRPr lang="en-US"/>
          </a:p>
        </p:txBody>
      </p:sp>
      <p:sp>
        <p:nvSpPr>
          <p:cNvPr id="14" name="Shape 12"/>
          <p:cNvSpPr/>
          <p:nvPr/>
        </p:nvSpPr>
        <p:spPr>
          <a:xfrm>
            <a:off x="5166360" y="1600200"/>
            <a:ext cx="1417320" cy="64008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5166360" y="1600200"/>
            <a:ext cx="141732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Remediate / Mitigate</a:t>
            </a:r>
            <a:endParaRPr lang="en-US" sz="1100" dirty="0"/>
          </a:p>
        </p:txBody>
      </p:sp>
      <p:sp>
        <p:nvSpPr>
          <p:cNvPr id="16" name="Shape 14"/>
          <p:cNvSpPr/>
          <p:nvPr/>
        </p:nvSpPr>
        <p:spPr>
          <a:xfrm>
            <a:off x="6583680" y="1847088"/>
            <a:ext cx="228600" cy="128016"/>
          </a:xfrm>
          <a:prstGeom prst="rect">
            <a:avLst/>
          </a:prstGeom>
          <a:solidFill>
            <a:srgbClr val="00C2CB"/>
          </a:solidFill>
          <a:ln w="12700">
            <a:solidFill>
              <a:srgbClr val="00C2CB"/>
            </a:solidFill>
            <a:prstDash val="solid"/>
          </a:ln>
        </p:spPr>
        <p:txBody>
          <a:bodyPr/>
          <a:lstStyle/>
          <a:p>
            <a:endParaRPr lang="en-US"/>
          </a:p>
        </p:txBody>
      </p:sp>
      <p:sp>
        <p:nvSpPr>
          <p:cNvPr id="17" name="Shape 15"/>
          <p:cNvSpPr/>
          <p:nvPr/>
        </p:nvSpPr>
        <p:spPr>
          <a:xfrm>
            <a:off x="6812280" y="1600200"/>
            <a:ext cx="1417320" cy="64008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18" name="Text 16"/>
          <p:cNvSpPr/>
          <p:nvPr/>
        </p:nvSpPr>
        <p:spPr>
          <a:xfrm>
            <a:off x="6812280" y="1600200"/>
            <a:ext cx="141732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Verify &amp; Close</a:t>
            </a:r>
            <a:endParaRPr lang="en-US" sz="1100" dirty="0"/>
          </a:p>
        </p:txBody>
      </p:sp>
      <p:sp>
        <p:nvSpPr>
          <p:cNvPr id="19" name="Shape 17"/>
          <p:cNvSpPr/>
          <p:nvPr/>
        </p:nvSpPr>
        <p:spPr>
          <a:xfrm>
            <a:off x="228600" y="2423160"/>
            <a:ext cx="2788920" cy="246888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0" name="Shape 18"/>
          <p:cNvSpPr/>
          <p:nvPr/>
        </p:nvSpPr>
        <p:spPr>
          <a:xfrm>
            <a:off x="228600" y="2423160"/>
            <a:ext cx="2788920" cy="411480"/>
          </a:xfrm>
          <a:prstGeom prst="rect">
            <a:avLst/>
          </a:prstGeom>
          <a:solidFill>
            <a:srgbClr val="E0F7F8"/>
          </a:solidFill>
          <a:ln w="12700">
            <a:solidFill>
              <a:srgbClr val="D1D5DB"/>
            </a:solidFill>
            <a:prstDash val="solid"/>
          </a:ln>
        </p:spPr>
        <p:txBody>
          <a:bodyPr/>
          <a:lstStyle/>
          <a:p>
            <a:endParaRPr lang="en-US"/>
          </a:p>
        </p:txBody>
      </p:sp>
      <p:sp>
        <p:nvSpPr>
          <p:cNvPr id="21" name="Text 19"/>
          <p:cNvSpPr/>
          <p:nvPr/>
        </p:nvSpPr>
        <p:spPr>
          <a:xfrm>
            <a:off x="365760" y="2450592"/>
            <a:ext cx="2514600" cy="38404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Ownership Model</a:t>
            </a:r>
            <a:endParaRPr lang="en-US" sz="1200" dirty="0"/>
          </a:p>
        </p:txBody>
      </p:sp>
      <p:sp>
        <p:nvSpPr>
          <p:cNvPr id="22" name="Text 20"/>
          <p:cNvSpPr/>
          <p:nvPr/>
        </p:nvSpPr>
        <p:spPr>
          <a:xfrm>
            <a:off x="365760" y="29260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Security team: identifies &amp; tracks</a:t>
            </a:r>
            <a:endParaRPr lang="en-US" sz="1050" dirty="0"/>
          </a:p>
        </p:txBody>
      </p:sp>
      <p:sp>
        <p:nvSpPr>
          <p:cNvPr id="23" name="Text 21"/>
          <p:cNvSpPr/>
          <p:nvPr/>
        </p:nvSpPr>
        <p:spPr>
          <a:xfrm>
            <a:off x="365760" y="33832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IT Ops: OS &amp; infrastructure patches</a:t>
            </a:r>
            <a:endParaRPr lang="en-US" sz="1050" dirty="0"/>
          </a:p>
        </p:txBody>
      </p:sp>
      <p:sp>
        <p:nvSpPr>
          <p:cNvPr id="24" name="Text 22"/>
          <p:cNvSpPr/>
          <p:nvPr/>
        </p:nvSpPr>
        <p:spPr>
          <a:xfrm>
            <a:off x="365760" y="38404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Dev teams: application vulns</a:t>
            </a:r>
            <a:endParaRPr lang="en-US" sz="1050" dirty="0"/>
          </a:p>
        </p:txBody>
      </p:sp>
      <p:sp>
        <p:nvSpPr>
          <p:cNvPr id="25" name="Text 23"/>
          <p:cNvSpPr/>
          <p:nvPr/>
        </p:nvSpPr>
        <p:spPr>
          <a:xfrm>
            <a:off x="365760" y="42976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Defined in RACI matrix</a:t>
            </a:r>
            <a:endParaRPr lang="en-US" sz="1050" dirty="0"/>
          </a:p>
        </p:txBody>
      </p:sp>
      <p:sp>
        <p:nvSpPr>
          <p:cNvPr id="26" name="Shape 24"/>
          <p:cNvSpPr/>
          <p:nvPr/>
        </p:nvSpPr>
        <p:spPr>
          <a:xfrm>
            <a:off x="3200400" y="2423160"/>
            <a:ext cx="2788920" cy="246888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7" name="Shape 25"/>
          <p:cNvSpPr/>
          <p:nvPr/>
        </p:nvSpPr>
        <p:spPr>
          <a:xfrm>
            <a:off x="3200400" y="2423160"/>
            <a:ext cx="2788920" cy="411480"/>
          </a:xfrm>
          <a:prstGeom prst="rect">
            <a:avLst/>
          </a:prstGeom>
          <a:solidFill>
            <a:srgbClr val="E0F7F8"/>
          </a:solidFill>
          <a:ln w="12700">
            <a:solidFill>
              <a:srgbClr val="D1D5DB"/>
            </a:solidFill>
            <a:prstDash val="solid"/>
          </a:ln>
        </p:spPr>
        <p:txBody>
          <a:bodyPr/>
          <a:lstStyle/>
          <a:p>
            <a:endParaRPr lang="en-US"/>
          </a:p>
        </p:txBody>
      </p:sp>
      <p:sp>
        <p:nvSpPr>
          <p:cNvPr id="28" name="Text 26"/>
          <p:cNvSpPr/>
          <p:nvPr/>
        </p:nvSpPr>
        <p:spPr>
          <a:xfrm>
            <a:off x="3337560" y="2450592"/>
            <a:ext cx="2514600" cy="38404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Tooling Integration</a:t>
            </a:r>
            <a:endParaRPr lang="en-US" sz="1200" dirty="0"/>
          </a:p>
        </p:txBody>
      </p:sp>
      <p:sp>
        <p:nvSpPr>
          <p:cNvPr id="29" name="Text 27"/>
          <p:cNvSpPr/>
          <p:nvPr/>
        </p:nvSpPr>
        <p:spPr>
          <a:xfrm>
            <a:off x="3337560" y="29260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Ticket creation in Jira / ServiceNow</a:t>
            </a:r>
            <a:endParaRPr lang="en-US" sz="1050" dirty="0"/>
          </a:p>
        </p:txBody>
      </p:sp>
      <p:sp>
        <p:nvSpPr>
          <p:cNvPr id="30" name="Text 28"/>
          <p:cNvSpPr/>
          <p:nvPr/>
        </p:nvSpPr>
        <p:spPr>
          <a:xfrm>
            <a:off x="3337560" y="33832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Auto-assign by asset owner</a:t>
            </a:r>
            <a:endParaRPr lang="en-US" sz="1050" dirty="0"/>
          </a:p>
        </p:txBody>
      </p:sp>
      <p:sp>
        <p:nvSpPr>
          <p:cNvPr id="31" name="Text 29"/>
          <p:cNvSpPr/>
          <p:nvPr/>
        </p:nvSpPr>
        <p:spPr>
          <a:xfrm>
            <a:off x="3337560" y="38404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SLA tracking &amp; escalation alerts</a:t>
            </a:r>
            <a:endParaRPr lang="en-US" sz="1050" dirty="0"/>
          </a:p>
        </p:txBody>
      </p:sp>
      <p:sp>
        <p:nvSpPr>
          <p:cNvPr id="32" name="Text 30"/>
          <p:cNvSpPr/>
          <p:nvPr/>
        </p:nvSpPr>
        <p:spPr>
          <a:xfrm>
            <a:off x="3337560" y="42976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Closure verified by re-scan</a:t>
            </a:r>
            <a:endParaRPr lang="en-US" sz="1050" dirty="0"/>
          </a:p>
        </p:txBody>
      </p:sp>
      <p:sp>
        <p:nvSpPr>
          <p:cNvPr id="33" name="Shape 31"/>
          <p:cNvSpPr/>
          <p:nvPr/>
        </p:nvSpPr>
        <p:spPr>
          <a:xfrm>
            <a:off x="6172200" y="2423160"/>
            <a:ext cx="2788920" cy="246888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34" name="Shape 32"/>
          <p:cNvSpPr/>
          <p:nvPr/>
        </p:nvSpPr>
        <p:spPr>
          <a:xfrm>
            <a:off x="6172200" y="2423160"/>
            <a:ext cx="2788920" cy="411480"/>
          </a:xfrm>
          <a:prstGeom prst="rect">
            <a:avLst/>
          </a:prstGeom>
          <a:solidFill>
            <a:srgbClr val="E0F7F8"/>
          </a:solidFill>
          <a:ln w="12700">
            <a:solidFill>
              <a:srgbClr val="D1D5DB"/>
            </a:solidFill>
            <a:prstDash val="solid"/>
          </a:ln>
        </p:spPr>
        <p:txBody>
          <a:bodyPr/>
          <a:lstStyle/>
          <a:p>
            <a:endParaRPr lang="en-US"/>
          </a:p>
        </p:txBody>
      </p:sp>
      <p:sp>
        <p:nvSpPr>
          <p:cNvPr id="35" name="Text 33"/>
          <p:cNvSpPr/>
          <p:nvPr/>
        </p:nvSpPr>
        <p:spPr>
          <a:xfrm>
            <a:off x="6309360" y="2450592"/>
            <a:ext cx="2514600" cy="38404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Exceptions &amp; Escalation</a:t>
            </a:r>
            <a:endParaRPr lang="en-US" sz="1200" dirty="0"/>
          </a:p>
        </p:txBody>
      </p:sp>
      <p:sp>
        <p:nvSpPr>
          <p:cNvPr id="36" name="Text 34"/>
          <p:cNvSpPr/>
          <p:nvPr/>
        </p:nvSpPr>
        <p:spPr>
          <a:xfrm>
            <a:off x="6309360" y="29260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Formal risk acceptance process</a:t>
            </a:r>
            <a:endParaRPr lang="en-US" sz="1050" dirty="0"/>
          </a:p>
        </p:txBody>
      </p:sp>
      <p:sp>
        <p:nvSpPr>
          <p:cNvPr id="37" name="Text 35"/>
          <p:cNvSpPr/>
          <p:nvPr/>
        </p:nvSpPr>
        <p:spPr>
          <a:xfrm>
            <a:off x="6309360" y="33832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Time-limited exceptions only</a:t>
            </a:r>
            <a:endParaRPr lang="en-US" sz="1050" dirty="0"/>
          </a:p>
        </p:txBody>
      </p:sp>
      <p:sp>
        <p:nvSpPr>
          <p:cNvPr id="38" name="Text 36"/>
          <p:cNvSpPr/>
          <p:nvPr/>
        </p:nvSpPr>
        <p:spPr>
          <a:xfrm>
            <a:off x="6309360" y="38404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Compensating controls documented</a:t>
            </a:r>
            <a:endParaRPr lang="en-US" sz="1050" dirty="0"/>
          </a:p>
        </p:txBody>
      </p:sp>
      <p:sp>
        <p:nvSpPr>
          <p:cNvPr id="39" name="Text 37"/>
          <p:cNvSpPr/>
          <p:nvPr/>
        </p:nvSpPr>
        <p:spPr>
          <a:xfrm>
            <a:off x="6309360" y="4297680"/>
            <a:ext cx="2560320" cy="42062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CISO sign-off for Critical/High</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91321"/>
          </a:solidFill>
          <a:ln w="12700">
            <a:solidFill>
              <a:srgbClr val="091321"/>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05  |  METRICS &amp; REPORTING</a:t>
            </a:r>
            <a:endParaRPr lang="en-US" sz="1400" dirty="0"/>
          </a:p>
        </p:txBody>
      </p:sp>
      <p:sp>
        <p:nvSpPr>
          <p:cNvPr id="4" name="Text 2"/>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Measuring What Matters</a:t>
            </a:r>
            <a:endParaRPr lang="en-US" sz="2400" dirty="0"/>
          </a:p>
        </p:txBody>
      </p:sp>
      <p:sp>
        <p:nvSpPr>
          <p:cNvPr id="5" name="Shape 3"/>
          <p:cNvSpPr/>
          <p:nvPr/>
        </p:nvSpPr>
        <p:spPr>
          <a:xfrm>
            <a:off x="274320" y="1645920"/>
            <a:ext cx="1965960" cy="1463040"/>
          </a:xfrm>
          <a:prstGeom prst="rect">
            <a:avLst/>
          </a:prstGeom>
          <a:solidFill>
            <a:srgbClr val="0A1929"/>
          </a:solidFill>
          <a:ln w="12700">
            <a:solidFill>
              <a:srgbClr val="00C2CB"/>
            </a:solidFill>
            <a:prstDash val="solid"/>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274320" y="1737360"/>
            <a:ext cx="1965960" cy="640080"/>
          </a:xfrm>
          <a:prstGeom prst="rect">
            <a:avLst/>
          </a:prstGeom>
          <a:noFill/>
          <a:ln/>
        </p:spPr>
        <p:txBody>
          <a:bodyPr wrap="square" rtlCol="0" anchor="ctr"/>
          <a:lstStyle/>
          <a:p>
            <a:pPr marL="0" indent="0" algn="ctr">
              <a:buNone/>
            </a:pPr>
            <a:r>
              <a:rPr lang="en-US" sz="2400" b="1" dirty="0">
                <a:solidFill>
                  <a:srgbClr val="00C2CB"/>
                </a:solidFill>
                <a:latin typeface="Calibri" pitchFamily="34" charset="0"/>
                <a:ea typeface="Calibri" pitchFamily="34" charset="-122"/>
                <a:cs typeface="Calibri" pitchFamily="34" charset="-120"/>
              </a:rPr>
              <a:t>MTTR</a:t>
            </a:r>
            <a:endParaRPr lang="en-US" sz="2400" dirty="0"/>
          </a:p>
        </p:txBody>
      </p:sp>
      <p:sp>
        <p:nvSpPr>
          <p:cNvPr id="7" name="Text 5"/>
          <p:cNvSpPr/>
          <p:nvPr/>
        </p:nvSpPr>
        <p:spPr>
          <a:xfrm>
            <a:off x="274320" y="2359152"/>
            <a:ext cx="19659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Mean Time to Remediate</a:t>
            </a:r>
            <a:endParaRPr lang="en-US" sz="1000" dirty="0"/>
          </a:p>
        </p:txBody>
      </p:sp>
      <p:sp>
        <p:nvSpPr>
          <p:cNvPr id="8" name="Text 6"/>
          <p:cNvSpPr/>
          <p:nvPr/>
        </p:nvSpPr>
        <p:spPr>
          <a:xfrm>
            <a:off x="274320" y="2715768"/>
            <a:ext cx="1965960" cy="320040"/>
          </a:xfrm>
          <a:prstGeom prst="rect">
            <a:avLst/>
          </a:prstGeom>
          <a:noFill/>
          <a:ln/>
        </p:spPr>
        <p:txBody>
          <a:bodyPr wrap="square" rtlCol="0" anchor="ctr"/>
          <a:lstStyle/>
          <a:p>
            <a:pPr marL="0" indent="0" algn="ctr">
              <a:buNone/>
            </a:pPr>
            <a:r>
              <a:rPr lang="en-US" sz="900" i="1" dirty="0">
                <a:solidFill>
                  <a:srgbClr val="D1D5DB"/>
                </a:solidFill>
                <a:latin typeface="Calibri" pitchFamily="34" charset="0"/>
                <a:ea typeface="Calibri" pitchFamily="34" charset="-122"/>
                <a:cs typeface="Calibri" pitchFamily="34" charset="-120"/>
              </a:rPr>
              <a:t>Track by severity tier</a:t>
            </a:r>
            <a:endParaRPr lang="en-US" sz="900" dirty="0"/>
          </a:p>
        </p:txBody>
      </p:sp>
      <p:sp>
        <p:nvSpPr>
          <p:cNvPr id="9" name="Shape 7"/>
          <p:cNvSpPr/>
          <p:nvPr/>
        </p:nvSpPr>
        <p:spPr>
          <a:xfrm>
            <a:off x="2423160" y="1645920"/>
            <a:ext cx="1965960" cy="1463040"/>
          </a:xfrm>
          <a:prstGeom prst="rect">
            <a:avLst/>
          </a:prstGeom>
          <a:solidFill>
            <a:srgbClr val="0A1929"/>
          </a:solidFill>
          <a:ln w="12700">
            <a:solidFill>
              <a:srgbClr val="00C2CB"/>
            </a:solidFill>
            <a:prstDash val="solid"/>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2423160" y="1737360"/>
            <a:ext cx="1965960" cy="640080"/>
          </a:xfrm>
          <a:prstGeom prst="rect">
            <a:avLst/>
          </a:prstGeom>
          <a:noFill/>
          <a:ln/>
        </p:spPr>
        <p:txBody>
          <a:bodyPr wrap="square" rtlCol="0" anchor="ctr"/>
          <a:lstStyle/>
          <a:p>
            <a:pPr marL="0" indent="0" algn="ctr">
              <a:buNone/>
            </a:pPr>
            <a:r>
              <a:rPr lang="en-US" sz="2400" b="1" dirty="0">
                <a:solidFill>
                  <a:srgbClr val="00C2CB"/>
                </a:solidFill>
                <a:latin typeface="Calibri" pitchFamily="34" charset="0"/>
                <a:ea typeface="Calibri" pitchFamily="34" charset="-122"/>
                <a:cs typeface="Calibri" pitchFamily="34" charset="-120"/>
              </a:rPr>
              <a:t>SLA%</a:t>
            </a:r>
            <a:endParaRPr lang="en-US" sz="2400" dirty="0"/>
          </a:p>
        </p:txBody>
      </p:sp>
      <p:sp>
        <p:nvSpPr>
          <p:cNvPr id="11" name="Text 9"/>
          <p:cNvSpPr/>
          <p:nvPr/>
        </p:nvSpPr>
        <p:spPr>
          <a:xfrm>
            <a:off x="2423160" y="2359152"/>
            <a:ext cx="19659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SLA Compliance Rate</a:t>
            </a:r>
            <a:endParaRPr lang="en-US" sz="1000" dirty="0"/>
          </a:p>
        </p:txBody>
      </p:sp>
      <p:sp>
        <p:nvSpPr>
          <p:cNvPr id="12" name="Text 10"/>
          <p:cNvSpPr/>
          <p:nvPr/>
        </p:nvSpPr>
        <p:spPr>
          <a:xfrm>
            <a:off x="2423160" y="2715768"/>
            <a:ext cx="1965960" cy="320040"/>
          </a:xfrm>
          <a:prstGeom prst="rect">
            <a:avLst/>
          </a:prstGeom>
          <a:noFill/>
          <a:ln/>
        </p:spPr>
        <p:txBody>
          <a:bodyPr wrap="square" rtlCol="0" anchor="ctr"/>
          <a:lstStyle/>
          <a:p>
            <a:pPr marL="0" indent="0" algn="ctr">
              <a:buNone/>
            </a:pPr>
            <a:r>
              <a:rPr lang="en-US" sz="900" i="1" dirty="0">
                <a:solidFill>
                  <a:srgbClr val="D1D5DB"/>
                </a:solidFill>
                <a:latin typeface="Calibri" pitchFamily="34" charset="0"/>
                <a:ea typeface="Calibri" pitchFamily="34" charset="-122"/>
                <a:cs typeface="Calibri" pitchFamily="34" charset="-120"/>
              </a:rPr>
              <a:t>% patched within target</a:t>
            </a:r>
            <a:endParaRPr lang="en-US" sz="900" dirty="0"/>
          </a:p>
        </p:txBody>
      </p:sp>
      <p:sp>
        <p:nvSpPr>
          <p:cNvPr id="13" name="Shape 11"/>
          <p:cNvSpPr/>
          <p:nvPr/>
        </p:nvSpPr>
        <p:spPr>
          <a:xfrm>
            <a:off x="4572000" y="1645920"/>
            <a:ext cx="1965960" cy="1463040"/>
          </a:xfrm>
          <a:prstGeom prst="rect">
            <a:avLst/>
          </a:prstGeom>
          <a:solidFill>
            <a:srgbClr val="0A1929"/>
          </a:solidFill>
          <a:ln w="12700">
            <a:solidFill>
              <a:srgbClr val="00C2CB"/>
            </a:solidFill>
            <a:prstDash val="solid"/>
          </a:ln>
          <a:effectLst>
            <a:outerShdw blurRad="101600" dist="38100" dir="8100000" algn="bl" rotWithShape="0">
              <a:srgbClr val="000000">
                <a:alpha val="18000"/>
              </a:srgbClr>
            </a:outerShdw>
          </a:effectLst>
        </p:spPr>
        <p:txBody>
          <a:bodyPr/>
          <a:lstStyle/>
          <a:p>
            <a:endParaRPr lang="en-US"/>
          </a:p>
        </p:txBody>
      </p:sp>
      <p:sp>
        <p:nvSpPr>
          <p:cNvPr id="14" name="Text 12"/>
          <p:cNvSpPr/>
          <p:nvPr/>
        </p:nvSpPr>
        <p:spPr>
          <a:xfrm>
            <a:off x="4572000" y="1737360"/>
            <a:ext cx="1965960" cy="640080"/>
          </a:xfrm>
          <a:prstGeom prst="rect">
            <a:avLst/>
          </a:prstGeom>
          <a:noFill/>
          <a:ln/>
        </p:spPr>
        <p:txBody>
          <a:bodyPr wrap="square" rtlCol="0" anchor="ctr"/>
          <a:lstStyle/>
          <a:p>
            <a:pPr marL="0" indent="0" algn="ctr">
              <a:buNone/>
            </a:pPr>
            <a:r>
              <a:rPr lang="en-US" sz="2400" b="1" dirty="0">
                <a:solidFill>
                  <a:srgbClr val="00C2CB"/>
                </a:solidFill>
                <a:latin typeface="Calibri" pitchFamily="34" charset="0"/>
                <a:ea typeface="Calibri" pitchFamily="34" charset="-122"/>
                <a:cs typeface="Calibri" pitchFamily="34" charset="-120"/>
              </a:rPr>
              <a:t>CVD</a:t>
            </a:r>
            <a:endParaRPr lang="en-US" sz="2400" dirty="0"/>
          </a:p>
        </p:txBody>
      </p:sp>
      <p:sp>
        <p:nvSpPr>
          <p:cNvPr id="15" name="Text 13"/>
          <p:cNvSpPr/>
          <p:nvPr/>
        </p:nvSpPr>
        <p:spPr>
          <a:xfrm>
            <a:off x="4572000" y="2359152"/>
            <a:ext cx="19659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Vuln Density</a:t>
            </a:r>
            <a:endParaRPr lang="en-US" sz="1000" dirty="0"/>
          </a:p>
        </p:txBody>
      </p:sp>
      <p:sp>
        <p:nvSpPr>
          <p:cNvPr id="16" name="Text 14"/>
          <p:cNvSpPr/>
          <p:nvPr/>
        </p:nvSpPr>
        <p:spPr>
          <a:xfrm>
            <a:off x="4572000" y="2715768"/>
            <a:ext cx="1965960" cy="320040"/>
          </a:xfrm>
          <a:prstGeom prst="rect">
            <a:avLst/>
          </a:prstGeom>
          <a:noFill/>
          <a:ln/>
        </p:spPr>
        <p:txBody>
          <a:bodyPr wrap="square" rtlCol="0" anchor="ctr"/>
          <a:lstStyle/>
          <a:p>
            <a:pPr marL="0" indent="0" algn="ctr">
              <a:buNone/>
            </a:pPr>
            <a:r>
              <a:rPr lang="en-US" sz="900" i="1" dirty="0">
                <a:solidFill>
                  <a:srgbClr val="D1D5DB"/>
                </a:solidFill>
                <a:latin typeface="Calibri" pitchFamily="34" charset="0"/>
                <a:ea typeface="Calibri" pitchFamily="34" charset="-122"/>
                <a:cs typeface="Calibri" pitchFamily="34" charset="-120"/>
              </a:rPr>
              <a:t>Vulns per asset (trending)</a:t>
            </a:r>
            <a:endParaRPr lang="en-US" sz="900" dirty="0"/>
          </a:p>
        </p:txBody>
      </p:sp>
      <p:sp>
        <p:nvSpPr>
          <p:cNvPr id="17" name="Shape 15"/>
          <p:cNvSpPr/>
          <p:nvPr/>
        </p:nvSpPr>
        <p:spPr>
          <a:xfrm>
            <a:off x="6720840" y="1645920"/>
            <a:ext cx="1965960" cy="1463040"/>
          </a:xfrm>
          <a:prstGeom prst="rect">
            <a:avLst/>
          </a:prstGeom>
          <a:solidFill>
            <a:srgbClr val="0A1929"/>
          </a:solidFill>
          <a:ln w="12700">
            <a:solidFill>
              <a:srgbClr val="00C2CB"/>
            </a:solidFill>
            <a:prstDash val="solid"/>
          </a:ln>
          <a:effectLst>
            <a:outerShdw blurRad="101600" dist="38100" dir="8100000" algn="bl" rotWithShape="0">
              <a:srgbClr val="000000">
                <a:alpha val="18000"/>
              </a:srgbClr>
            </a:outerShdw>
          </a:effectLst>
        </p:spPr>
        <p:txBody>
          <a:bodyPr/>
          <a:lstStyle/>
          <a:p>
            <a:endParaRPr lang="en-US"/>
          </a:p>
        </p:txBody>
      </p:sp>
      <p:sp>
        <p:nvSpPr>
          <p:cNvPr id="18" name="Text 16"/>
          <p:cNvSpPr/>
          <p:nvPr/>
        </p:nvSpPr>
        <p:spPr>
          <a:xfrm>
            <a:off x="6720840" y="1737360"/>
            <a:ext cx="1965960" cy="640080"/>
          </a:xfrm>
          <a:prstGeom prst="rect">
            <a:avLst/>
          </a:prstGeom>
          <a:noFill/>
          <a:ln/>
        </p:spPr>
        <p:txBody>
          <a:bodyPr wrap="square" rtlCol="0" anchor="ctr"/>
          <a:lstStyle/>
          <a:p>
            <a:pPr marL="0" indent="0" algn="ctr">
              <a:buNone/>
            </a:pPr>
            <a:r>
              <a:rPr lang="en-US" sz="2400" b="1" dirty="0">
                <a:solidFill>
                  <a:srgbClr val="00C2CB"/>
                </a:solidFill>
                <a:latin typeface="Calibri" pitchFamily="34" charset="0"/>
                <a:ea typeface="Calibri" pitchFamily="34" charset="-122"/>
                <a:cs typeface="Calibri" pitchFamily="34" charset="-120"/>
              </a:rPr>
              <a:t>COV%</a:t>
            </a:r>
            <a:endParaRPr lang="en-US" sz="2400" dirty="0"/>
          </a:p>
        </p:txBody>
      </p:sp>
      <p:sp>
        <p:nvSpPr>
          <p:cNvPr id="19" name="Text 17"/>
          <p:cNvSpPr/>
          <p:nvPr/>
        </p:nvSpPr>
        <p:spPr>
          <a:xfrm>
            <a:off x="6720840" y="2359152"/>
            <a:ext cx="19659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Scan Coverage</a:t>
            </a:r>
            <a:endParaRPr lang="en-US" sz="1000" dirty="0"/>
          </a:p>
        </p:txBody>
      </p:sp>
      <p:sp>
        <p:nvSpPr>
          <p:cNvPr id="20" name="Text 18"/>
          <p:cNvSpPr/>
          <p:nvPr/>
        </p:nvSpPr>
        <p:spPr>
          <a:xfrm>
            <a:off x="6720840" y="2715768"/>
            <a:ext cx="1965960" cy="320040"/>
          </a:xfrm>
          <a:prstGeom prst="rect">
            <a:avLst/>
          </a:prstGeom>
          <a:noFill/>
          <a:ln/>
        </p:spPr>
        <p:txBody>
          <a:bodyPr wrap="square" rtlCol="0" anchor="ctr"/>
          <a:lstStyle/>
          <a:p>
            <a:pPr marL="0" indent="0" algn="ctr">
              <a:buNone/>
            </a:pPr>
            <a:r>
              <a:rPr lang="en-US" sz="900" i="1" dirty="0">
                <a:solidFill>
                  <a:srgbClr val="D1D5DB"/>
                </a:solidFill>
                <a:latin typeface="Calibri" pitchFamily="34" charset="0"/>
                <a:ea typeface="Calibri" pitchFamily="34" charset="-122"/>
                <a:cs typeface="Calibri" pitchFamily="34" charset="-120"/>
              </a:rPr>
              <a:t>% of assets scanned</a:t>
            </a:r>
            <a:endParaRPr lang="en-US" sz="900" dirty="0"/>
          </a:p>
        </p:txBody>
      </p:sp>
      <p:sp>
        <p:nvSpPr>
          <p:cNvPr id="21" name="Text 19"/>
          <p:cNvSpPr/>
          <p:nvPr/>
        </p:nvSpPr>
        <p:spPr>
          <a:xfrm>
            <a:off x="365760" y="3246120"/>
            <a:ext cx="8229600" cy="365760"/>
          </a:xfrm>
          <a:prstGeom prst="rect">
            <a:avLst/>
          </a:prstGeom>
          <a:noFill/>
          <a:ln/>
        </p:spPr>
        <p:txBody>
          <a:bodyPr wrap="square" rtlCol="0" anchor="ctr"/>
          <a:lstStyle/>
          <a:p>
            <a:pPr marL="0" indent="0">
              <a:buNone/>
            </a:pPr>
            <a:r>
              <a:rPr lang="en-US" sz="1500" b="1" dirty="0">
                <a:solidFill>
                  <a:srgbClr val="00C2CB"/>
                </a:solidFill>
                <a:latin typeface="Calibri" pitchFamily="34" charset="0"/>
                <a:ea typeface="Calibri" pitchFamily="34" charset="-122"/>
                <a:cs typeface="Calibri" pitchFamily="34" charset="-120"/>
              </a:rPr>
              <a:t>Tailor Reporting to Your Audience</a:t>
            </a:r>
            <a:endParaRPr lang="en-US" sz="1500" dirty="0"/>
          </a:p>
        </p:txBody>
      </p:sp>
      <p:sp>
        <p:nvSpPr>
          <p:cNvPr id="22" name="Shape 20"/>
          <p:cNvSpPr/>
          <p:nvPr/>
        </p:nvSpPr>
        <p:spPr>
          <a:xfrm>
            <a:off x="274320" y="3657600"/>
            <a:ext cx="2788920" cy="1188720"/>
          </a:xfrm>
          <a:prstGeom prst="rect">
            <a:avLst/>
          </a:prstGeom>
          <a:solidFill>
            <a:srgbClr val="0A1929"/>
          </a:solidFill>
          <a:ln w="12700">
            <a:solidFill>
              <a:srgbClr val="1A3A5A"/>
            </a:solidFill>
            <a:prstDash val="solid"/>
          </a:ln>
        </p:spPr>
        <p:txBody>
          <a:bodyPr/>
          <a:lstStyle/>
          <a:p>
            <a:endParaRPr lang="en-US"/>
          </a:p>
        </p:txBody>
      </p:sp>
      <p:sp>
        <p:nvSpPr>
          <p:cNvPr id="23" name="Text 21"/>
          <p:cNvSpPr/>
          <p:nvPr/>
        </p:nvSpPr>
        <p:spPr>
          <a:xfrm>
            <a:off x="411480" y="3703320"/>
            <a:ext cx="2514600" cy="365760"/>
          </a:xfrm>
          <a:prstGeom prst="rect">
            <a:avLst/>
          </a:prstGeom>
          <a:noFill/>
          <a:ln/>
        </p:spPr>
        <p:txBody>
          <a:bodyPr wrap="square"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Technical Teams</a:t>
            </a:r>
            <a:endParaRPr lang="en-US" sz="1200" dirty="0"/>
          </a:p>
        </p:txBody>
      </p:sp>
      <p:sp>
        <p:nvSpPr>
          <p:cNvPr id="24" name="Text 22"/>
          <p:cNvSpPr/>
          <p:nvPr/>
        </p:nvSpPr>
        <p:spPr>
          <a:xfrm>
            <a:off x="411480" y="4069080"/>
            <a:ext cx="2514600" cy="731520"/>
          </a:xfrm>
          <a:prstGeom prst="rect">
            <a:avLst/>
          </a:prstGeom>
          <a:noFill/>
          <a:ln/>
        </p:spPr>
        <p:txBody>
          <a:bodyPr wrap="square" rtlCol="0" anchor="ctr"/>
          <a:lstStyle/>
          <a:p>
            <a:pPr marL="0" indent="0">
              <a:buNone/>
            </a:pPr>
            <a:r>
              <a:rPr lang="en-US" sz="1000" dirty="0">
                <a:solidFill>
                  <a:srgbClr val="D1D5DB"/>
                </a:solidFill>
                <a:latin typeface="Calibri" pitchFamily="34" charset="0"/>
                <a:ea typeface="Calibri" pitchFamily="34" charset="-122"/>
                <a:cs typeface="Calibri" pitchFamily="34" charset="-120"/>
              </a:rPr>
              <a:t>Scan results, ticket queues, SLA breaches, vuln details</a:t>
            </a:r>
            <a:endParaRPr lang="en-US" sz="1000" dirty="0"/>
          </a:p>
        </p:txBody>
      </p:sp>
      <p:sp>
        <p:nvSpPr>
          <p:cNvPr id="25" name="Shape 23"/>
          <p:cNvSpPr/>
          <p:nvPr/>
        </p:nvSpPr>
        <p:spPr>
          <a:xfrm>
            <a:off x="3246120" y="3657600"/>
            <a:ext cx="2788920" cy="1188720"/>
          </a:xfrm>
          <a:prstGeom prst="rect">
            <a:avLst/>
          </a:prstGeom>
          <a:solidFill>
            <a:srgbClr val="0A1929"/>
          </a:solidFill>
          <a:ln w="12700">
            <a:solidFill>
              <a:srgbClr val="1A3A5A"/>
            </a:solidFill>
            <a:prstDash val="solid"/>
          </a:ln>
        </p:spPr>
        <p:txBody>
          <a:bodyPr/>
          <a:lstStyle/>
          <a:p>
            <a:endParaRPr lang="en-US"/>
          </a:p>
        </p:txBody>
      </p:sp>
      <p:sp>
        <p:nvSpPr>
          <p:cNvPr id="26" name="Text 24"/>
          <p:cNvSpPr/>
          <p:nvPr/>
        </p:nvSpPr>
        <p:spPr>
          <a:xfrm>
            <a:off x="3383280" y="3703320"/>
            <a:ext cx="2514600" cy="365760"/>
          </a:xfrm>
          <a:prstGeom prst="rect">
            <a:avLst/>
          </a:prstGeom>
          <a:noFill/>
          <a:ln/>
        </p:spPr>
        <p:txBody>
          <a:bodyPr wrap="square"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Executives</a:t>
            </a:r>
            <a:endParaRPr lang="en-US" sz="1200" dirty="0"/>
          </a:p>
        </p:txBody>
      </p:sp>
      <p:sp>
        <p:nvSpPr>
          <p:cNvPr id="27" name="Text 25"/>
          <p:cNvSpPr/>
          <p:nvPr/>
        </p:nvSpPr>
        <p:spPr>
          <a:xfrm>
            <a:off x="3383280" y="4069080"/>
            <a:ext cx="2514600" cy="731520"/>
          </a:xfrm>
          <a:prstGeom prst="rect">
            <a:avLst/>
          </a:prstGeom>
          <a:noFill/>
          <a:ln/>
        </p:spPr>
        <p:txBody>
          <a:bodyPr wrap="square" rtlCol="0" anchor="ctr"/>
          <a:lstStyle/>
          <a:p>
            <a:pPr marL="0" indent="0">
              <a:buNone/>
            </a:pPr>
            <a:r>
              <a:rPr lang="en-US" sz="1000" dirty="0">
                <a:solidFill>
                  <a:srgbClr val="D1D5DB"/>
                </a:solidFill>
                <a:latin typeface="Calibri" pitchFamily="34" charset="0"/>
                <a:ea typeface="Calibri" pitchFamily="34" charset="-122"/>
                <a:cs typeface="Calibri" pitchFamily="34" charset="-120"/>
              </a:rPr>
              <a:t>Risk posture trend, top risks, resource needs, compliance status</a:t>
            </a:r>
            <a:endParaRPr lang="en-US" sz="1000" dirty="0"/>
          </a:p>
        </p:txBody>
      </p:sp>
      <p:sp>
        <p:nvSpPr>
          <p:cNvPr id="28" name="Shape 26"/>
          <p:cNvSpPr/>
          <p:nvPr/>
        </p:nvSpPr>
        <p:spPr>
          <a:xfrm>
            <a:off x="6217920" y="3657600"/>
            <a:ext cx="2788920" cy="1188720"/>
          </a:xfrm>
          <a:prstGeom prst="rect">
            <a:avLst/>
          </a:prstGeom>
          <a:solidFill>
            <a:srgbClr val="0A1929"/>
          </a:solidFill>
          <a:ln w="12700">
            <a:solidFill>
              <a:srgbClr val="1A3A5A"/>
            </a:solidFill>
            <a:prstDash val="solid"/>
          </a:ln>
        </p:spPr>
        <p:txBody>
          <a:bodyPr/>
          <a:lstStyle/>
          <a:p>
            <a:endParaRPr lang="en-US"/>
          </a:p>
        </p:txBody>
      </p:sp>
      <p:sp>
        <p:nvSpPr>
          <p:cNvPr id="29" name="Text 27"/>
          <p:cNvSpPr/>
          <p:nvPr/>
        </p:nvSpPr>
        <p:spPr>
          <a:xfrm>
            <a:off x="6355080" y="3703320"/>
            <a:ext cx="2514600" cy="365760"/>
          </a:xfrm>
          <a:prstGeom prst="rect">
            <a:avLst/>
          </a:prstGeom>
          <a:noFill/>
          <a:ln/>
        </p:spPr>
        <p:txBody>
          <a:bodyPr wrap="square"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Board</a:t>
            </a:r>
            <a:endParaRPr lang="en-US" sz="1200" dirty="0"/>
          </a:p>
        </p:txBody>
      </p:sp>
      <p:sp>
        <p:nvSpPr>
          <p:cNvPr id="30" name="Text 28"/>
          <p:cNvSpPr/>
          <p:nvPr/>
        </p:nvSpPr>
        <p:spPr>
          <a:xfrm>
            <a:off x="6355080" y="4069080"/>
            <a:ext cx="2514600" cy="731520"/>
          </a:xfrm>
          <a:prstGeom prst="rect">
            <a:avLst/>
          </a:prstGeom>
          <a:noFill/>
          <a:ln/>
        </p:spPr>
        <p:txBody>
          <a:bodyPr wrap="square" rtlCol="0" anchor="ctr"/>
          <a:lstStyle/>
          <a:p>
            <a:pPr marL="0" indent="0">
              <a:buNone/>
            </a:pPr>
            <a:r>
              <a:rPr lang="en-US" sz="1000" dirty="0">
                <a:solidFill>
                  <a:srgbClr val="D1D5DB"/>
                </a:solidFill>
                <a:latin typeface="Calibri" pitchFamily="34" charset="0"/>
                <a:ea typeface="Calibri" pitchFamily="34" charset="-122"/>
                <a:cs typeface="Calibri" pitchFamily="34" charset="-120"/>
              </a:rPr>
              <a:t>Cyber risk in business terms: financial exposure, peer comparison, regulatory risk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06  |  GOVERNANCE &amp; MATURITY</a:t>
            </a:r>
            <a:endParaRPr lang="en-US" sz="1400" dirty="0"/>
          </a:p>
        </p:txBody>
      </p:sp>
      <p:sp>
        <p:nvSpPr>
          <p:cNvPr id="4" name="Text 2"/>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Program Structure &amp; Compliance Alignment</a:t>
            </a:r>
            <a:endParaRPr lang="en-US" sz="2400" dirty="0"/>
          </a:p>
        </p:txBody>
      </p:sp>
      <p:sp>
        <p:nvSpPr>
          <p:cNvPr id="5" name="Shape 3"/>
          <p:cNvSpPr/>
          <p:nvPr/>
        </p:nvSpPr>
        <p:spPr>
          <a:xfrm>
            <a:off x="274320" y="1600200"/>
            <a:ext cx="4023360" cy="96012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74320" y="1600200"/>
            <a:ext cx="64008" cy="960120"/>
          </a:xfrm>
          <a:prstGeom prst="rect">
            <a:avLst/>
          </a:prstGeom>
          <a:solidFill>
            <a:srgbClr val="00C2CB"/>
          </a:solidFill>
          <a:ln w="12700">
            <a:solidFill>
              <a:srgbClr val="00C2CB"/>
            </a:solidFill>
            <a:prstDash val="solid"/>
          </a:ln>
        </p:spPr>
        <p:txBody>
          <a:bodyPr/>
          <a:lstStyle/>
          <a:p>
            <a:endParaRPr lang="en-US"/>
          </a:p>
        </p:txBody>
      </p:sp>
      <p:sp>
        <p:nvSpPr>
          <p:cNvPr id="7" name="Text 5"/>
          <p:cNvSpPr/>
          <p:nvPr/>
        </p:nvSpPr>
        <p:spPr>
          <a:xfrm>
            <a:off x="457200" y="1645920"/>
            <a:ext cx="36576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Policy &amp; Procedure</a:t>
            </a:r>
            <a:endParaRPr lang="en-US" sz="1200" dirty="0"/>
          </a:p>
        </p:txBody>
      </p:sp>
      <p:sp>
        <p:nvSpPr>
          <p:cNvPr id="8" name="Text 6"/>
          <p:cNvSpPr/>
          <p:nvPr/>
        </p:nvSpPr>
        <p:spPr>
          <a:xfrm>
            <a:off x="457200" y="2002536"/>
            <a:ext cx="3657600" cy="50292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Document VM policy, scanning cadence, SLAs, and exception handling process.</a:t>
            </a:r>
            <a:endParaRPr lang="en-US" sz="1050" dirty="0"/>
          </a:p>
        </p:txBody>
      </p:sp>
      <p:sp>
        <p:nvSpPr>
          <p:cNvPr id="9" name="Shape 7"/>
          <p:cNvSpPr/>
          <p:nvPr/>
        </p:nvSpPr>
        <p:spPr>
          <a:xfrm>
            <a:off x="274320" y="2697480"/>
            <a:ext cx="4023360" cy="96012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274320" y="2697480"/>
            <a:ext cx="64008" cy="960120"/>
          </a:xfrm>
          <a:prstGeom prst="rect">
            <a:avLst/>
          </a:prstGeom>
          <a:solidFill>
            <a:srgbClr val="00C2CB"/>
          </a:solidFill>
          <a:ln w="12700">
            <a:solidFill>
              <a:srgbClr val="00C2CB"/>
            </a:solidFill>
            <a:prstDash val="solid"/>
          </a:ln>
        </p:spPr>
        <p:txBody>
          <a:bodyPr/>
          <a:lstStyle/>
          <a:p>
            <a:endParaRPr lang="en-US"/>
          </a:p>
        </p:txBody>
      </p:sp>
      <p:sp>
        <p:nvSpPr>
          <p:cNvPr id="11" name="Text 9"/>
          <p:cNvSpPr/>
          <p:nvPr/>
        </p:nvSpPr>
        <p:spPr>
          <a:xfrm>
            <a:off x="457200" y="2743200"/>
            <a:ext cx="36576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RACI Model</a:t>
            </a:r>
            <a:endParaRPr lang="en-US" sz="1200" dirty="0"/>
          </a:p>
        </p:txBody>
      </p:sp>
      <p:sp>
        <p:nvSpPr>
          <p:cNvPr id="12" name="Text 10"/>
          <p:cNvSpPr/>
          <p:nvPr/>
        </p:nvSpPr>
        <p:spPr>
          <a:xfrm>
            <a:off x="457200" y="3099816"/>
            <a:ext cx="3657600" cy="50292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Define who is Responsible, Accountable, Consulted, and Informed for each phase.</a:t>
            </a:r>
            <a:endParaRPr lang="en-US" sz="1050" dirty="0"/>
          </a:p>
        </p:txBody>
      </p:sp>
      <p:sp>
        <p:nvSpPr>
          <p:cNvPr id="13" name="Shape 11"/>
          <p:cNvSpPr/>
          <p:nvPr/>
        </p:nvSpPr>
        <p:spPr>
          <a:xfrm>
            <a:off x="274320" y="3794760"/>
            <a:ext cx="4023360" cy="960120"/>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4" name="Shape 12"/>
          <p:cNvSpPr/>
          <p:nvPr/>
        </p:nvSpPr>
        <p:spPr>
          <a:xfrm>
            <a:off x="274320" y="3794760"/>
            <a:ext cx="64008" cy="960120"/>
          </a:xfrm>
          <a:prstGeom prst="rect">
            <a:avLst/>
          </a:prstGeom>
          <a:solidFill>
            <a:srgbClr val="00C2CB"/>
          </a:solidFill>
          <a:ln w="12700">
            <a:solidFill>
              <a:srgbClr val="00C2CB"/>
            </a:solidFill>
            <a:prstDash val="solid"/>
          </a:ln>
        </p:spPr>
        <p:txBody>
          <a:bodyPr/>
          <a:lstStyle/>
          <a:p>
            <a:endParaRPr lang="en-US"/>
          </a:p>
        </p:txBody>
      </p:sp>
      <p:sp>
        <p:nvSpPr>
          <p:cNvPr id="15" name="Text 13"/>
          <p:cNvSpPr/>
          <p:nvPr/>
        </p:nvSpPr>
        <p:spPr>
          <a:xfrm>
            <a:off x="457200" y="3840480"/>
            <a:ext cx="36576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Compliance Alignment</a:t>
            </a:r>
            <a:endParaRPr lang="en-US" sz="1200" dirty="0"/>
          </a:p>
        </p:txBody>
      </p:sp>
      <p:sp>
        <p:nvSpPr>
          <p:cNvPr id="16" name="Text 14"/>
          <p:cNvSpPr/>
          <p:nvPr/>
        </p:nvSpPr>
        <p:spPr>
          <a:xfrm>
            <a:off x="457200" y="4197096"/>
            <a:ext cx="3657600" cy="50292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Map controls to PCI-DSS, HIPAA, SOC 2, NIST CSF, and ISO 27001 requirements.</a:t>
            </a:r>
            <a:endParaRPr lang="en-US" sz="1050" dirty="0"/>
          </a:p>
        </p:txBody>
      </p:sp>
      <p:sp>
        <p:nvSpPr>
          <p:cNvPr id="17" name="Text 15"/>
          <p:cNvSpPr/>
          <p:nvPr/>
        </p:nvSpPr>
        <p:spPr>
          <a:xfrm>
            <a:off x="4754880" y="1481328"/>
            <a:ext cx="4114800" cy="41148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VM Maturity Model</a:t>
            </a:r>
            <a:endParaRPr lang="en-US" sz="1400" dirty="0"/>
          </a:p>
        </p:txBody>
      </p:sp>
      <p:sp>
        <p:nvSpPr>
          <p:cNvPr id="18" name="Shape 16"/>
          <p:cNvSpPr/>
          <p:nvPr/>
        </p:nvSpPr>
        <p:spPr>
          <a:xfrm>
            <a:off x="4754880" y="2011680"/>
            <a:ext cx="914400" cy="457200"/>
          </a:xfrm>
          <a:prstGeom prst="rect">
            <a:avLst/>
          </a:prstGeom>
          <a:solidFill>
            <a:srgbClr val="EF4444">
              <a:alpha val="80000"/>
            </a:srgbClr>
          </a:solidFill>
          <a:ln w="12700">
            <a:solidFill>
              <a:srgbClr val="EF4444"/>
            </a:solidFill>
            <a:prstDash val="solid"/>
          </a:ln>
        </p:spPr>
        <p:txBody>
          <a:bodyPr/>
          <a:lstStyle/>
          <a:p>
            <a:endParaRPr lang="en-US"/>
          </a:p>
        </p:txBody>
      </p:sp>
      <p:sp>
        <p:nvSpPr>
          <p:cNvPr id="19" name="Text 17"/>
          <p:cNvSpPr/>
          <p:nvPr/>
        </p:nvSpPr>
        <p:spPr>
          <a:xfrm>
            <a:off x="4800600" y="2011680"/>
            <a:ext cx="82296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L1: Initial</a:t>
            </a:r>
            <a:endParaRPr lang="en-US" sz="1000" dirty="0"/>
          </a:p>
        </p:txBody>
      </p:sp>
      <p:sp>
        <p:nvSpPr>
          <p:cNvPr id="20" name="Text 18"/>
          <p:cNvSpPr/>
          <p:nvPr/>
        </p:nvSpPr>
        <p:spPr>
          <a:xfrm>
            <a:off x="5760720" y="2011680"/>
            <a:ext cx="324612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Ad-hoc scanning, reactive patching</a:t>
            </a:r>
            <a:endParaRPr lang="en-US" sz="950" dirty="0"/>
          </a:p>
        </p:txBody>
      </p:sp>
      <p:sp>
        <p:nvSpPr>
          <p:cNvPr id="21" name="Shape 19"/>
          <p:cNvSpPr/>
          <p:nvPr/>
        </p:nvSpPr>
        <p:spPr>
          <a:xfrm>
            <a:off x="4754880" y="2624328"/>
            <a:ext cx="1463040" cy="457200"/>
          </a:xfrm>
          <a:prstGeom prst="rect">
            <a:avLst/>
          </a:prstGeom>
          <a:solidFill>
            <a:srgbClr val="F59E0B">
              <a:alpha val="80000"/>
            </a:srgbClr>
          </a:solidFill>
          <a:ln w="12700">
            <a:solidFill>
              <a:srgbClr val="F59E0B"/>
            </a:solidFill>
            <a:prstDash val="solid"/>
          </a:ln>
        </p:spPr>
        <p:txBody>
          <a:bodyPr/>
          <a:lstStyle/>
          <a:p>
            <a:endParaRPr lang="en-US"/>
          </a:p>
        </p:txBody>
      </p:sp>
      <p:sp>
        <p:nvSpPr>
          <p:cNvPr id="22" name="Text 20"/>
          <p:cNvSpPr/>
          <p:nvPr/>
        </p:nvSpPr>
        <p:spPr>
          <a:xfrm>
            <a:off x="4800600" y="2624328"/>
            <a:ext cx="13716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L2: Developing</a:t>
            </a:r>
            <a:endParaRPr lang="en-US" sz="1000" dirty="0"/>
          </a:p>
        </p:txBody>
      </p:sp>
      <p:sp>
        <p:nvSpPr>
          <p:cNvPr id="23" name="Text 21"/>
          <p:cNvSpPr/>
          <p:nvPr/>
        </p:nvSpPr>
        <p:spPr>
          <a:xfrm>
            <a:off x="6309360" y="2624328"/>
            <a:ext cx="269748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Regular scanning, basic tracking</a:t>
            </a:r>
            <a:endParaRPr lang="en-US" sz="950" dirty="0"/>
          </a:p>
        </p:txBody>
      </p:sp>
      <p:sp>
        <p:nvSpPr>
          <p:cNvPr id="24" name="Shape 22"/>
          <p:cNvSpPr/>
          <p:nvPr/>
        </p:nvSpPr>
        <p:spPr>
          <a:xfrm>
            <a:off x="4754880" y="3236976"/>
            <a:ext cx="2011680" cy="457200"/>
          </a:xfrm>
          <a:prstGeom prst="rect">
            <a:avLst/>
          </a:prstGeom>
          <a:solidFill>
            <a:srgbClr val="3B82F6">
              <a:alpha val="80000"/>
            </a:srgbClr>
          </a:solidFill>
          <a:ln w="12700">
            <a:solidFill>
              <a:srgbClr val="3B82F6"/>
            </a:solidFill>
            <a:prstDash val="solid"/>
          </a:ln>
        </p:spPr>
        <p:txBody>
          <a:bodyPr/>
          <a:lstStyle/>
          <a:p>
            <a:endParaRPr lang="en-US"/>
          </a:p>
        </p:txBody>
      </p:sp>
      <p:sp>
        <p:nvSpPr>
          <p:cNvPr id="25" name="Text 23"/>
          <p:cNvSpPr/>
          <p:nvPr/>
        </p:nvSpPr>
        <p:spPr>
          <a:xfrm>
            <a:off x="4800600" y="3236976"/>
            <a:ext cx="192024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L3: Defined</a:t>
            </a:r>
            <a:endParaRPr lang="en-US" sz="1000" dirty="0"/>
          </a:p>
        </p:txBody>
      </p:sp>
      <p:sp>
        <p:nvSpPr>
          <p:cNvPr id="26" name="Text 24"/>
          <p:cNvSpPr/>
          <p:nvPr/>
        </p:nvSpPr>
        <p:spPr>
          <a:xfrm>
            <a:off x="6858000" y="3236976"/>
            <a:ext cx="214884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SLAs, ownership, reporting</a:t>
            </a:r>
            <a:endParaRPr lang="en-US" sz="950" dirty="0"/>
          </a:p>
        </p:txBody>
      </p:sp>
      <p:sp>
        <p:nvSpPr>
          <p:cNvPr id="27" name="Shape 25"/>
          <p:cNvSpPr/>
          <p:nvPr/>
        </p:nvSpPr>
        <p:spPr>
          <a:xfrm>
            <a:off x="4754880" y="3849624"/>
            <a:ext cx="2560320" cy="457200"/>
          </a:xfrm>
          <a:prstGeom prst="rect">
            <a:avLst/>
          </a:prstGeom>
          <a:solidFill>
            <a:srgbClr val="10B981">
              <a:alpha val="80000"/>
            </a:srgbClr>
          </a:solidFill>
          <a:ln w="12700">
            <a:solidFill>
              <a:srgbClr val="10B981"/>
            </a:solidFill>
            <a:prstDash val="solid"/>
          </a:ln>
        </p:spPr>
        <p:txBody>
          <a:bodyPr/>
          <a:lstStyle/>
          <a:p>
            <a:endParaRPr lang="en-US"/>
          </a:p>
        </p:txBody>
      </p:sp>
      <p:sp>
        <p:nvSpPr>
          <p:cNvPr id="28" name="Text 26"/>
          <p:cNvSpPr/>
          <p:nvPr/>
        </p:nvSpPr>
        <p:spPr>
          <a:xfrm>
            <a:off x="4800600" y="3849624"/>
            <a:ext cx="246888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L4: Managed</a:t>
            </a:r>
            <a:endParaRPr lang="en-US" sz="1000" dirty="0"/>
          </a:p>
        </p:txBody>
      </p:sp>
      <p:sp>
        <p:nvSpPr>
          <p:cNvPr id="29" name="Text 27"/>
          <p:cNvSpPr/>
          <p:nvPr/>
        </p:nvSpPr>
        <p:spPr>
          <a:xfrm>
            <a:off x="7406640" y="3849624"/>
            <a:ext cx="160020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Risk-based, metrics-driven</a:t>
            </a:r>
            <a:endParaRPr lang="en-US" sz="950" dirty="0"/>
          </a:p>
        </p:txBody>
      </p:sp>
      <p:sp>
        <p:nvSpPr>
          <p:cNvPr id="30" name="Shape 28"/>
          <p:cNvSpPr/>
          <p:nvPr/>
        </p:nvSpPr>
        <p:spPr>
          <a:xfrm>
            <a:off x="4754880" y="4462272"/>
            <a:ext cx="3108960" cy="457200"/>
          </a:xfrm>
          <a:prstGeom prst="rect">
            <a:avLst/>
          </a:prstGeom>
          <a:solidFill>
            <a:srgbClr val="00C2CB">
              <a:alpha val="80000"/>
            </a:srgbClr>
          </a:solidFill>
          <a:ln w="12700">
            <a:solidFill>
              <a:srgbClr val="00C2CB"/>
            </a:solidFill>
            <a:prstDash val="solid"/>
          </a:ln>
        </p:spPr>
        <p:txBody>
          <a:bodyPr/>
          <a:lstStyle/>
          <a:p>
            <a:endParaRPr lang="en-US"/>
          </a:p>
        </p:txBody>
      </p:sp>
      <p:sp>
        <p:nvSpPr>
          <p:cNvPr id="31" name="Text 29"/>
          <p:cNvSpPr/>
          <p:nvPr/>
        </p:nvSpPr>
        <p:spPr>
          <a:xfrm>
            <a:off x="4800600" y="4462272"/>
            <a:ext cx="301752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L5: Optimizing</a:t>
            </a:r>
            <a:endParaRPr lang="en-US" sz="1000" dirty="0"/>
          </a:p>
        </p:txBody>
      </p:sp>
      <p:sp>
        <p:nvSpPr>
          <p:cNvPr id="32" name="Text 30"/>
          <p:cNvSpPr/>
          <p:nvPr/>
        </p:nvSpPr>
        <p:spPr>
          <a:xfrm>
            <a:off x="7955280" y="4462272"/>
            <a:ext cx="105156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Predictive, automated, continuous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91321"/>
          </a:solidFill>
          <a:ln w="12700">
            <a:solidFill>
              <a:srgbClr val="091321"/>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07  |  COMMON PITFALLS</a:t>
            </a:r>
            <a:endParaRPr lang="en-US" sz="1400" dirty="0"/>
          </a:p>
        </p:txBody>
      </p:sp>
      <p:sp>
        <p:nvSpPr>
          <p:cNvPr id="4" name="Text 2"/>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Breaks VM Programs</a:t>
            </a:r>
            <a:endParaRPr lang="en-US" sz="2400" dirty="0"/>
          </a:p>
        </p:txBody>
      </p:sp>
      <p:sp>
        <p:nvSpPr>
          <p:cNvPr id="5" name="Shape 3"/>
          <p:cNvSpPr/>
          <p:nvPr/>
        </p:nvSpPr>
        <p:spPr>
          <a:xfrm>
            <a:off x="274320" y="1600200"/>
            <a:ext cx="2788920" cy="1508760"/>
          </a:xfrm>
          <a:prstGeom prst="rect">
            <a:avLst/>
          </a:prstGeom>
          <a:solidFill>
            <a:srgbClr val="0A1929"/>
          </a:solidFill>
          <a:ln w="12700">
            <a:solidFill>
              <a:srgbClr val="1A3A5A"/>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74320" y="1600200"/>
            <a:ext cx="2788920" cy="73152"/>
          </a:xfrm>
          <a:prstGeom prst="rect">
            <a:avLst/>
          </a:prstGeom>
          <a:solidFill>
            <a:srgbClr val="EF4444"/>
          </a:solidFill>
          <a:ln w="12700">
            <a:solidFill>
              <a:srgbClr val="EF4444"/>
            </a:solidFill>
            <a:prstDash val="solid"/>
          </a:ln>
        </p:spPr>
        <p:txBody>
          <a:bodyPr/>
          <a:lstStyle/>
          <a:p>
            <a:endParaRPr lang="en-US"/>
          </a:p>
        </p:txBody>
      </p:sp>
      <p:sp>
        <p:nvSpPr>
          <p:cNvPr id="7" name="Text 5"/>
          <p:cNvSpPr/>
          <p:nvPr/>
        </p:nvSpPr>
        <p:spPr>
          <a:xfrm>
            <a:off x="384048" y="1737360"/>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868680" y="1737360"/>
            <a:ext cx="21031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Scan Theater</a:t>
            </a:r>
            <a:endParaRPr lang="en-US" sz="1200" dirty="0"/>
          </a:p>
        </p:txBody>
      </p:sp>
      <p:sp>
        <p:nvSpPr>
          <p:cNvPr id="9" name="Text 7"/>
          <p:cNvSpPr/>
          <p:nvPr/>
        </p:nvSpPr>
        <p:spPr>
          <a:xfrm>
            <a:off x="411480" y="2194560"/>
            <a:ext cx="2560320" cy="80467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Scanning without fixing. Metrics look busy; risk doesn't decrease.</a:t>
            </a:r>
            <a:endParaRPr lang="en-US" sz="1050" dirty="0"/>
          </a:p>
        </p:txBody>
      </p:sp>
      <p:sp>
        <p:nvSpPr>
          <p:cNvPr id="10" name="Shape 8"/>
          <p:cNvSpPr/>
          <p:nvPr/>
        </p:nvSpPr>
        <p:spPr>
          <a:xfrm>
            <a:off x="3246120" y="1600200"/>
            <a:ext cx="2788920" cy="1508760"/>
          </a:xfrm>
          <a:prstGeom prst="rect">
            <a:avLst/>
          </a:prstGeom>
          <a:solidFill>
            <a:srgbClr val="0A1929"/>
          </a:solidFill>
          <a:ln w="12700">
            <a:solidFill>
              <a:srgbClr val="1A3A5A"/>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3246120" y="1600200"/>
            <a:ext cx="2788920" cy="73152"/>
          </a:xfrm>
          <a:prstGeom prst="rect">
            <a:avLst/>
          </a:prstGeom>
          <a:solidFill>
            <a:srgbClr val="EF4444"/>
          </a:solidFill>
          <a:ln w="12700">
            <a:solidFill>
              <a:srgbClr val="EF4444"/>
            </a:solidFill>
            <a:prstDash val="solid"/>
          </a:ln>
        </p:spPr>
        <p:txBody>
          <a:bodyPr/>
          <a:lstStyle/>
          <a:p>
            <a:endParaRPr lang="en-US"/>
          </a:p>
        </p:txBody>
      </p:sp>
      <p:sp>
        <p:nvSpPr>
          <p:cNvPr id="12" name="Text 10"/>
          <p:cNvSpPr/>
          <p:nvPr/>
        </p:nvSpPr>
        <p:spPr>
          <a:xfrm>
            <a:off x="3355848" y="1737360"/>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3" name="Text 11"/>
          <p:cNvSpPr/>
          <p:nvPr/>
        </p:nvSpPr>
        <p:spPr>
          <a:xfrm>
            <a:off x="3840480" y="1737360"/>
            <a:ext cx="21031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Alert Fatigue</a:t>
            </a:r>
            <a:endParaRPr lang="en-US" sz="1200" dirty="0"/>
          </a:p>
        </p:txBody>
      </p:sp>
      <p:sp>
        <p:nvSpPr>
          <p:cNvPr id="14" name="Text 12"/>
          <p:cNvSpPr/>
          <p:nvPr/>
        </p:nvSpPr>
        <p:spPr>
          <a:xfrm>
            <a:off x="3383280" y="2194560"/>
            <a:ext cx="2560320" cy="80467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Too much noise drowns out real risk. Prioritization is the antidote.</a:t>
            </a:r>
            <a:endParaRPr lang="en-US" sz="1050" dirty="0"/>
          </a:p>
        </p:txBody>
      </p:sp>
      <p:sp>
        <p:nvSpPr>
          <p:cNvPr id="15" name="Shape 13"/>
          <p:cNvSpPr/>
          <p:nvPr/>
        </p:nvSpPr>
        <p:spPr>
          <a:xfrm>
            <a:off x="6217920" y="1600200"/>
            <a:ext cx="2788920" cy="1508760"/>
          </a:xfrm>
          <a:prstGeom prst="rect">
            <a:avLst/>
          </a:prstGeom>
          <a:solidFill>
            <a:srgbClr val="0A1929"/>
          </a:solidFill>
          <a:ln w="12700">
            <a:solidFill>
              <a:srgbClr val="1A3A5A"/>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6217920" y="1600200"/>
            <a:ext cx="2788920" cy="73152"/>
          </a:xfrm>
          <a:prstGeom prst="rect">
            <a:avLst/>
          </a:prstGeom>
          <a:solidFill>
            <a:srgbClr val="EF4444"/>
          </a:solidFill>
          <a:ln w="12700">
            <a:solidFill>
              <a:srgbClr val="EF4444"/>
            </a:solidFill>
            <a:prstDash val="solid"/>
          </a:ln>
        </p:spPr>
        <p:txBody>
          <a:bodyPr/>
          <a:lstStyle/>
          <a:p>
            <a:endParaRPr lang="en-US"/>
          </a:p>
        </p:txBody>
      </p:sp>
      <p:sp>
        <p:nvSpPr>
          <p:cNvPr id="17" name="Text 15"/>
          <p:cNvSpPr/>
          <p:nvPr/>
        </p:nvSpPr>
        <p:spPr>
          <a:xfrm>
            <a:off x="6327648" y="1737360"/>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6812280" y="1737360"/>
            <a:ext cx="21031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Coverage Gaps</a:t>
            </a:r>
            <a:endParaRPr lang="en-US" sz="1200" dirty="0"/>
          </a:p>
        </p:txBody>
      </p:sp>
      <p:sp>
        <p:nvSpPr>
          <p:cNvPr id="19" name="Text 17"/>
          <p:cNvSpPr/>
          <p:nvPr/>
        </p:nvSpPr>
        <p:spPr>
          <a:xfrm>
            <a:off x="6355080" y="2194560"/>
            <a:ext cx="2560320" cy="80467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Shadow IT, cloud sprawl, OT/IoT devices fall outside scan scope.</a:t>
            </a:r>
            <a:endParaRPr lang="en-US" sz="1050" dirty="0"/>
          </a:p>
        </p:txBody>
      </p:sp>
      <p:sp>
        <p:nvSpPr>
          <p:cNvPr id="20" name="Shape 18"/>
          <p:cNvSpPr/>
          <p:nvPr/>
        </p:nvSpPr>
        <p:spPr>
          <a:xfrm>
            <a:off x="274320" y="3291840"/>
            <a:ext cx="2788920" cy="1508760"/>
          </a:xfrm>
          <a:prstGeom prst="rect">
            <a:avLst/>
          </a:prstGeom>
          <a:solidFill>
            <a:srgbClr val="0A1929"/>
          </a:solidFill>
          <a:ln w="12700">
            <a:solidFill>
              <a:srgbClr val="1A3A5A"/>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274320" y="3291840"/>
            <a:ext cx="2788920" cy="73152"/>
          </a:xfrm>
          <a:prstGeom prst="rect">
            <a:avLst/>
          </a:prstGeom>
          <a:solidFill>
            <a:srgbClr val="EF4444"/>
          </a:solidFill>
          <a:ln w="12700">
            <a:solidFill>
              <a:srgbClr val="EF4444"/>
            </a:solidFill>
            <a:prstDash val="solid"/>
          </a:ln>
        </p:spPr>
        <p:txBody>
          <a:bodyPr/>
          <a:lstStyle/>
          <a:p>
            <a:endParaRPr lang="en-US"/>
          </a:p>
        </p:txBody>
      </p:sp>
      <p:sp>
        <p:nvSpPr>
          <p:cNvPr id="22" name="Text 20"/>
          <p:cNvSpPr/>
          <p:nvPr/>
        </p:nvSpPr>
        <p:spPr>
          <a:xfrm>
            <a:off x="384048" y="3429000"/>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3" name="Text 21"/>
          <p:cNvSpPr/>
          <p:nvPr/>
        </p:nvSpPr>
        <p:spPr>
          <a:xfrm>
            <a:off x="868680" y="3429000"/>
            <a:ext cx="21031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Siloed Teams</a:t>
            </a:r>
            <a:endParaRPr lang="en-US" sz="1200" dirty="0"/>
          </a:p>
        </p:txBody>
      </p:sp>
      <p:sp>
        <p:nvSpPr>
          <p:cNvPr id="24" name="Text 22"/>
          <p:cNvSpPr/>
          <p:nvPr/>
        </p:nvSpPr>
        <p:spPr>
          <a:xfrm>
            <a:off x="411480" y="3886200"/>
            <a:ext cx="2560320" cy="80467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Security finds; nobody owns remediation. Shared accountability is essential.</a:t>
            </a:r>
            <a:endParaRPr lang="en-US" sz="1050" dirty="0"/>
          </a:p>
        </p:txBody>
      </p:sp>
      <p:sp>
        <p:nvSpPr>
          <p:cNvPr id="25" name="Shape 23"/>
          <p:cNvSpPr/>
          <p:nvPr/>
        </p:nvSpPr>
        <p:spPr>
          <a:xfrm>
            <a:off x="3246120" y="3291840"/>
            <a:ext cx="2788920" cy="1508760"/>
          </a:xfrm>
          <a:prstGeom prst="rect">
            <a:avLst/>
          </a:prstGeom>
          <a:solidFill>
            <a:srgbClr val="0A1929"/>
          </a:solidFill>
          <a:ln w="12700">
            <a:solidFill>
              <a:srgbClr val="1A3A5A"/>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3246120" y="3291840"/>
            <a:ext cx="2788920" cy="73152"/>
          </a:xfrm>
          <a:prstGeom prst="rect">
            <a:avLst/>
          </a:prstGeom>
          <a:solidFill>
            <a:srgbClr val="EF4444"/>
          </a:solidFill>
          <a:ln w="12700">
            <a:solidFill>
              <a:srgbClr val="EF4444"/>
            </a:solidFill>
            <a:prstDash val="solid"/>
          </a:ln>
        </p:spPr>
        <p:txBody>
          <a:bodyPr/>
          <a:lstStyle/>
          <a:p>
            <a:endParaRPr lang="en-US"/>
          </a:p>
        </p:txBody>
      </p:sp>
      <p:sp>
        <p:nvSpPr>
          <p:cNvPr id="27" name="Text 25"/>
          <p:cNvSpPr/>
          <p:nvPr/>
        </p:nvSpPr>
        <p:spPr>
          <a:xfrm>
            <a:off x="3355848" y="3429000"/>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8" name="Text 26"/>
          <p:cNvSpPr/>
          <p:nvPr/>
        </p:nvSpPr>
        <p:spPr>
          <a:xfrm>
            <a:off x="3840480" y="3429000"/>
            <a:ext cx="21031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CVSS Fixation</a:t>
            </a:r>
            <a:endParaRPr lang="en-US" sz="1200" dirty="0"/>
          </a:p>
        </p:txBody>
      </p:sp>
      <p:sp>
        <p:nvSpPr>
          <p:cNvPr id="29" name="Text 27"/>
          <p:cNvSpPr/>
          <p:nvPr/>
        </p:nvSpPr>
        <p:spPr>
          <a:xfrm>
            <a:off x="3383280" y="3886200"/>
            <a:ext cx="2560320" cy="80467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Chasing CVSS 10s while actively exploited medium vulns go unpatched.</a:t>
            </a:r>
            <a:endParaRPr lang="en-US" sz="1050" dirty="0"/>
          </a:p>
        </p:txBody>
      </p:sp>
      <p:sp>
        <p:nvSpPr>
          <p:cNvPr id="30" name="Shape 28"/>
          <p:cNvSpPr/>
          <p:nvPr/>
        </p:nvSpPr>
        <p:spPr>
          <a:xfrm>
            <a:off x="6217920" y="3291840"/>
            <a:ext cx="2788920" cy="1508760"/>
          </a:xfrm>
          <a:prstGeom prst="rect">
            <a:avLst/>
          </a:prstGeom>
          <a:solidFill>
            <a:srgbClr val="0A1929"/>
          </a:solidFill>
          <a:ln w="12700">
            <a:solidFill>
              <a:srgbClr val="1A3A5A"/>
            </a:solidFill>
            <a:prstDash val="solid"/>
          </a:ln>
          <a:effectLst>
            <a:outerShdw blurRad="101600" dist="38100" dir="8100000" algn="bl" rotWithShape="0">
              <a:srgbClr val="000000">
                <a:alpha val="18000"/>
              </a:srgbClr>
            </a:outerShdw>
          </a:effectLst>
        </p:spPr>
        <p:txBody>
          <a:bodyPr/>
          <a:lstStyle/>
          <a:p>
            <a:endParaRPr lang="en-US"/>
          </a:p>
        </p:txBody>
      </p:sp>
      <p:sp>
        <p:nvSpPr>
          <p:cNvPr id="31" name="Shape 29"/>
          <p:cNvSpPr/>
          <p:nvPr/>
        </p:nvSpPr>
        <p:spPr>
          <a:xfrm>
            <a:off x="6217920" y="3291840"/>
            <a:ext cx="2788920" cy="73152"/>
          </a:xfrm>
          <a:prstGeom prst="rect">
            <a:avLst/>
          </a:prstGeom>
          <a:solidFill>
            <a:srgbClr val="EF4444"/>
          </a:solidFill>
          <a:ln w="12700">
            <a:solidFill>
              <a:srgbClr val="EF4444"/>
            </a:solidFill>
            <a:prstDash val="solid"/>
          </a:ln>
        </p:spPr>
        <p:txBody>
          <a:bodyPr/>
          <a:lstStyle/>
          <a:p>
            <a:endParaRPr lang="en-US"/>
          </a:p>
        </p:txBody>
      </p:sp>
      <p:sp>
        <p:nvSpPr>
          <p:cNvPr id="32" name="Text 30"/>
          <p:cNvSpPr/>
          <p:nvPr/>
        </p:nvSpPr>
        <p:spPr>
          <a:xfrm>
            <a:off x="6327648" y="3429000"/>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33" name="Text 31"/>
          <p:cNvSpPr/>
          <p:nvPr/>
        </p:nvSpPr>
        <p:spPr>
          <a:xfrm>
            <a:off x="6812280" y="3429000"/>
            <a:ext cx="21031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 Exception Process</a:t>
            </a:r>
            <a:endParaRPr lang="en-US" sz="1200" dirty="0"/>
          </a:p>
        </p:txBody>
      </p:sp>
      <p:sp>
        <p:nvSpPr>
          <p:cNvPr id="34" name="Text 32"/>
          <p:cNvSpPr/>
          <p:nvPr/>
        </p:nvSpPr>
        <p:spPr>
          <a:xfrm>
            <a:off x="6355080" y="3886200"/>
            <a:ext cx="2560320" cy="80467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Vulns linger with no documented risk decision. Creates audit risk.</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08  |  TOOLING &amp; SPECIAL CONSIDERATIONS</a:t>
            </a:r>
            <a:endParaRPr lang="en-US" sz="1400" dirty="0"/>
          </a:p>
        </p:txBody>
      </p:sp>
      <p:sp>
        <p:nvSpPr>
          <p:cNvPr id="4" name="Text 2"/>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Technology &amp; Unique Environments</a:t>
            </a:r>
            <a:endParaRPr lang="en-US" sz="2400" dirty="0"/>
          </a:p>
        </p:txBody>
      </p:sp>
      <p:sp>
        <p:nvSpPr>
          <p:cNvPr id="5" name="Shape 3"/>
          <p:cNvSpPr/>
          <p:nvPr/>
        </p:nvSpPr>
        <p:spPr>
          <a:xfrm>
            <a:off x="274320" y="1600200"/>
            <a:ext cx="5029200" cy="667512"/>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74320" y="1600200"/>
            <a:ext cx="64008" cy="667512"/>
          </a:xfrm>
          <a:prstGeom prst="rect">
            <a:avLst/>
          </a:prstGeom>
          <a:solidFill>
            <a:srgbClr val="0D1B2A"/>
          </a:solidFill>
          <a:ln w="12700">
            <a:solidFill>
              <a:srgbClr val="0D1B2A"/>
            </a:solidFill>
            <a:prstDash val="solid"/>
          </a:ln>
        </p:spPr>
        <p:txBody>
          <a:bodyPr/>
          <a:lstStyle/>
          <a:p>
            <a:endParaRPr lang="en-US"/>
          </a:p>
        </p:txBody>
      </p:sp>
      <p:sp>
        <p:nvSpPr>
          <p:cNvPr id="7" name="Text 5"/>
          <p:cNvSpPr/>
          <p:nvPr/>
        </p:nvSpPr>
        <p:spPr>
          <a:xfrm>
            <a:off x="457200" y="1636776"/>
            <a:ext cx="2286000" cy="320040"/>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Vulnerability Scanners</a:t>
            </a:r>
            <a:endParaRPr lang="en-US" sz="1100" dirty="0"/>
          </a:p>
        </p:txBody>
      </p:sp>
      <p:sp>
        <p:nvSpPr>
          <p:cNvPr id="8" name="Text 6"/>
          <p:cNvSpPr/>
          <p:nvPr/>
        </p:nvSpPr>
        <p:spPr>
          <a:xfrm>
            <a:off x="457200" y="1938528"/>
            <a:ext cx="4663440"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Tenable Nessus, Qualys VMDR, Rapid7 InsightVM, Wiz (cloud)</a:t>
            </a:r>
            <a:endParaRPr lang="en-US" sz="1000" dirty="0"/>
          </a:p>
        </p:txBody>
      </p:sp>
      <p:sp>
        <p:nvSpPr>
          <p:cNvPr id="9" name="Shape 7"/>
          <p:cNvSpPr/>
          <p:nvPr/>
        </p:nvSpPr>
        <p:spPr>
          <a:xfrm>
            <a:off x="274320" y="2395728"/>
            <a:ext cx="5029200" cy="667512"/>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274320" y="2395728"/>
            <a:ext cx="64008" cy="667512"/>
          </a:xfrm>
          <a:prstGeom prst="rect">
            <a:avLst/>
          </a:prstGeom>
          <a:solidFill>
            <a:srgbClr val="0D1B2A"/>
          </a:solidFill>
          <a:ln w="12700">
            <a:solidFill>
              <a:srgbClr val="0D1B2A"/>
            </a:solidFill>
            <a:prstDash val="solid"/>
          </a:ln>
        </p:spPr>
        <p:txBody>
          <a:bodyPr/>
          <a:lstStyle/>
          <a:p>
            <a:endParaRPr lang="en-US"/>
          </a:p>
        </p:txBody>
      </p:sp>
      <p:sp>
        <p:nvSpPr>
          <p:cNvPr id="11" name="Text 9"/>
          <p:cNvSpPr/>
          <p:nvPr/>
        </p:nvSpPr>
        <p:spPr>
          <a:xfrm>
            <a:off x="457200" y="2432304"/>
            <a:ext cx="2286000" cy="320040"/>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RBVM / ASPM Platforms</a:t>
            </a:r>
            <a:endParaRPr lang="en-US" sz="1100" dirty="0"/>
          </a:p>
        </p:txBody>
      </p:sp>
      <p:sp>
        <p:nvSpPr>
          <p:cNvPr id="12" name="Text 10"/>
          <p:cNvSpPr/>
          <p:nvPr/>
        </p:nvSpPr>
        <p:spPr>
          <a:xfrm>
            <a:off x="457200" y="2734056"/>
            <a:ext cx="4663440"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Nucleus Security, Ivanti, </a:t>
            </a:r>
            <a:r>
              <a:rPr lang="en-US" sz="1000" dirty="0" err="1">
                <a:solidFill>
                  <a:srgbClr val="64748B"/>
                </a:solidFill>
                <a:latin typeface="Calibri" pitchFamily="34" charset="0"/>
                <a:ea typeface="Calibri" pitchFamily="34" charset="-122"/>
                <a:cs typeface="Calibri" pitchFamily="34" charset="-120"/>
              </a:rPr>
              <a:t>Brinqa</a:t>
            </a:r>
            <a:r>
              <a:rPr lang="en-US" sz="1000" dirty="0">
                <a:solidFill>
                  <a:srgbClr val="64748B"/>
                </a:solidFill>
                <a:latin typeface="Calibri" pitchFamily="34" charset="0"/>
                <a:ea typeface="Calibri" pitchFamily="34" charset="-122"/>
                <a:cs typeface="Calibri" pitchFamily="34" charset="-120"/>
              </a:rPr>
              <a:t>, ArmorCode — aggregate &amp; prioritize across sources</a:t>
            </a:r>
            <a:endParaRPr lang="en-US" sz="1000" dirty="0"/>
          </a:p>
        </p:txBody>
      </p:sp>
      <p:sp>
        <p:nvSpPr>
          <p:cNvPr id="13" name="Shape 11"/>
          <p:cNvSpPr/>
          <p:nvPr/>
        </p:nvSpPr>
        <p:spPr>
          <a:xfrm>
            <a:off x="274320" y="3191256"/>
            <a:ext cx="5029200" cy="667512"/>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4" name="Shape 12"/>
          <p:cNvSpPr/>
          <p:nvPr/>
        </p:nvSpPr>
        <p:spPr>
          <a:xfrm>
            <a:off x="274320" y="3191256"/>
            <a:ext cx="64008" cy="667512"/>
          </a:xfrm>
          <a:prstGeom prst="rect">
            <a:avLst/>
          </a:prstGeom>
          <a:solidFill>
            <a:srgbClr val="0D1B2A"/>
          </a:solidFill>
          <a:ln w="12700">
            <a:solidFill>
              <a:srgbClr val="0D1B2A"/>
            </a:solidFill>
            <a:prstDash val="solid"/>
          </a:ln>
        </p:spPr>
        <p:txBody>
          <a:bodyPr/>
          <a:lstStyle/>
          <a:p>
            <a:endParaRPr lang="en-US"/>
          </a:p>
        </p:txBody>
      </p:sp>
      <p:sp>
        <p:nvSpPr>
          <p:cNvPr id="15" name="Text 13"/>
          <p:cNvSpPr/>
          <p:nvPr/>
        </p:nvSpPr>
        <p:spPr>
          <a:xfrm>
            <a:off x="457200" y="3227832"/>
            <a:ext cx="2286000" cy="320040"/>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Integration Layer</a:t>
            </a:r>
            <a:endParaRPr lang="en-US" sz="1100" dirty="0"/>
          </a:p>
        </p:txBody>
      </p:sp>
      <p:sp>
        <p:nvSpPr>
          <p:cNvPr id="16" name="Text 14"/>
          <p:cNvSpPr/>
          <p:nvPr/>
        </p:nvSpPr>
        <p:spPr>
          <a:xfrm>
            <a:off x="457200" y="3529584"/>
            <a:ext cx="4663440"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SIEM (Splunk, Sentinel), SOAR, CMDB (ServiceNow), ticketing (Jira)</a:t>
            </a:r>
            <a:endParaRPr lang="en-US" sz="1000" dirty="0"/>
          </a:p>
        </p:txBody>
      </p:sp>
      <p:sp>
        <p:nvSpPr>
          <p:cNvPr id="17" name="Shape 15"/>
          <p:cNvSpPr/>
          <p:nvPr/>
        </p:nvSpPr>
        <p:spPr>
          <a:xfrm>
            <a:off x="274320" y="3986784"/>
            <a:ext cx="5029200" cy="667512"/>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274320" y="3986784"/>
            <a:ext cx="64008" cy="667512"/>
          </a:xfrm>
          <a:prstGeom prst="rect">
            <a:avLst/>
          </a:prstGeom>
          <a:solidFill>
            <a:srgbClr val="0D1B2A"/>
          </a:solidFill>
          <a:ln w="12700">
            <a:solidFill>
              <a:srgbClr val="0D1B2A"/>
            </a:solidFill>
            <a:prstDash val="solid"/>
          </a:ln>
        </p:spPr>
        <p:txBody>
          <a:bodyPr/>
          <a:lstStyle/>
          <a:p>
            <a:endParaRPr lang="en-US"/>
          </a:p>
        </p:txBody>
      </p:sp>
      <p:sp>
        <p:nvSpPr>
          <p:cNvPr id="19" name="Text 17"/>
          <p:cNvSpPr/>
          <p:nvPr/>
        </p:nvSpPr>
        <p:spPr>
          <a:xfrm>
            <a:off x="457200" y="4023360"/>
            <a:ext cx="2286000" cy="320040"/>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AppSec Tooling</a:t>
            </a:r>
            <a:endParaRPr lang="en-US" sz="1100" dirty="0"/>
          </a:p>
        </p:txBody>
      </p:sp>
      <p:sp>
        <p:nvSpPr>
          <p:cNvPr id="20" name="Text 18"/>
          <p:cNvSpPr/>
          <p:nvPr/>
        </p:nvSpPr>
        <p:spPr>
          <a:xfrm>
            <a:off x="457200" y="4325112"/>
            <a:ext cx="4663440"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SAST, DAST, SCA — essential for application-layer coverage</a:t>
            </a:r>
            <a:endParaRPr lang="en-US" sz="1000" dirty="0"/>
          </a:p>
        </p:txBody>
      </p:sp>
      <p:sp>
        <p:nvSpPr>
          <p:cNvPr id="21" name="Text 19"/>
          <p:cNvSpPr/>
          <p:nvPr/>
        </p:nvSpPr>
        <p:spPr>
          <a:xfrm>
            <a:off x="5577840" y="1481328"/>
            <a:ext cx="3291840" cy="36576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Special Environments</a:t>
            </a:r>
            <a:endParaRPr lang="en-US" sz="1400" dirty="0"/>
          </a:p>
        </p:txBody>
      </p:sp>
      <p:sp>
        <p:nvSpPr>
          <p:cNvPr id="22" name="Shape 20"/>
          <p:cNvSpPr/>
          <p:nvPr/>
        </p:nvSpPr>
        <p:spPr>
          <a:xfrm>
            <a:off x="5577840" y="1920240"/>
            <a:ext cx="3291840" cy="621792"/>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3" name="Text 21"/>
          <p:cNvSpPr/>
          <p:nvPr/>
        </p:nvSpPr>
        <p:spPr>
          <a:xfrm>
            <a:off x="5669280" y="1947672"/>
            <a:ext cx="3108960" cy="274320"/>
          </a:xfrm>
          <a:prstGeom prst="rect">
            <a:avLst/>
          </a:prstGeom>
          <a:noFill/>
          <a:ln/>
        </p:spPr>
        <p:txBody>
          <a:bodyPr wrap="square"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Cloud Native</a:t>
            </a:r>
            <a:endParaRPr lang="en-US" sz="1050" dirty="0"/>
          </a:p>
        </p:txBody>
      </p:sp>
      <p:sp>
        <p:nvSpPr>
          <p:cNvPr id="24" name="Text 22"/>
          <p:cNvSpPr/>
          <p:nvPr/>
        </p:nvSpPr>
        <p:spPr>
          <a:xfrm>
            <a:off x="5669280" y="2231136"/>
            <a:ext cx="310896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Ephemeral assets, IaC scanning, container image scanning</a:t>
            </a:r>
            <a:endParaRPr lang="en-US" sz="950" dirty="0"/>
          </a:p>
        </p:txBody>
      </p:sp>
      <p:sp>
        <p:nvSpPr>
          <p:cNvPr id="25" name="Shape 23"/>
          <p:cNvSpPr/>
          <p:nvPr/>
        </p:nvSpPr>
        <p:spPr>
          <a:xfrm>
            <a:off x="5577840" y="2679192"/>
            <a:ext cx="3291840" cy="621792"/>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6" name="Text 24"/>
          <p:cNvSpPr/>
          <p:nvPr/>
        </p:nvSpPr>
        <p:spPr>
          <a:xfrm>
            <a:off x="5669280" y="2706624"/>
            <a:ext cx="3108960" cy="274320"/>
          </a:xfrm>
          <a:prstGeom prst="rect">
            <a:avLst/>
          </a:prstGeom>
          <a:noFill/>
          <a:ln/>
        </p:spPr>
        <p:txBody>
          <a:bodyPr wrap="square"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OT / ICS</a:t>
            </a:r>
            <a:endParaRPr lang="en-US" sz="1050" dirty="0"/>
          </a:p>
        </p:txBody>
      </p:sp>
      <p:sp>
        <p:nvSpPr>
          <p:cNvPr id="27" name="Text 25"/>
          <p:cNvSpPr/>
          <p:nvPr/>
        </p:nvSpPr>
        <p:spPr>
          <a:xfrm>
            <a:off x="5669280" y="2990088"/>
            <a:ext cx="310896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Passive scanning only; availability &gt; confidentiality</a:t>
            </a:r>
            <a:endParaRPr lang="en-US" sz="950" dirty="0"/>
          </a:p>
        </p:txBody>
      </p:sp>
      <p:sp>
        <p:nvSpPr>
          <p:cNvPr id="28" name="Shape 26"/>
          <p:cNvSpPr/>
          <p:nvPr/>
        </p:nvSpPr>
        <p:spPr>
          <a:xfrm>
            <a:off x="5577840" y="3438144"/>
            <a:ext cx="3291840" cy="621792"/>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29" name="Text 27"/>
          <p:cNvSpPr/>
          <p:nvPr/>
        </p:nvSpPr>
        <p:spPr>
          <a:xfrm>
            <a:off x="5669280" y="3465576"/>
            <a:ext cx="3108960" cy="274320"/>
          </a:xfrm>
          <a:prstGeom prst="rect">
            <a:avLst/>
          </a:prstGeom>
          <a:noFill/>
          <a:ln/>
        </p:spPr>
        <p:txBody>
          <a:bodyPr wrap="square"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Supply Chain</a:t>
            </a:r>
            <a:endParaRPr lang="en-US" sz="1050" dirty="0"/>
          </a:p>
        </p:txBody>
      </p:sp>
      <p:sp>
        <p:nvSpPr>
          <p:cNvPr id="30" name="Text 28"/>
          <p:cNvSpPr/>
          <p:nvPr/>
        </p:nvSpPr>
        <p:spPr>
          <a:xfrm>
            <a:off x="5669280" y="3749040"/>
            <a:ext cx="310896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SBOM, third-party risk, dependency scanning (SCA)</a:t>
            </a:r>
            <a:endParaRPr lang="en-US" sz="950" dirty="0"/>
          </a:p>
        </p:txBody>
      </p:sp>
      <p:sp>
        <p:nvSpPr>
          <p:cNvPr id="31" name="Shape 29"/>
          <p:cNvSpPr/>
          <p:nvPr/>
        </p:nvSpPr>
        <p:spPr>
          <a:xfrm>
            <a:off x="5577840" y="4197096"/>
            <a:ext cx="3291840" cy="621792"/>
          </a:xfrm>
          <a:prstGeom prst="rect">
            <a:avLst/>
          </a:prstGeom>
          <a:solidFill>
            <a:srgbClr val="FFFFFF"/>
          </a:solidFill>
          <a:ln w="12700">
            <a:solidFill>
              <a:srgbClr val="D1D5DB"/>
            </a:solidFill>
            <a:prstDash val="solid"/>
          </a:ln>
          <a:effectLst>
            <a:outerShdw blurRad="101600" dist="38100" dir="8100000" algn="bl" rotWithShape="0">
              <a:srgbClr val="000000">
                <a:alpha val="18000"/>
              </a:srgbClr>
            </a:outerShdw>
          </a:effectLst>
        </p:spPr>
        <p:txBody>
          <a:bodyPr/>
          <a:lstStyle/>
          <a:p>
            <a:endParaRPr lang="en-US"/>
          </a:p>
        </p:txBody>
      </p:sp>
      <p:sp>
        <p:nvSpPr>
          <p:cNvPr id="32" name="Text 30"/>
          <p:cNvSpPr/>
          <p:nvPr/>
        </p:nvSpPr>
        <p:spPr>
          <a:xfrm>
            <a:off x="5669280" y="4224528"/>
            <a:ext cx="3108960" cy="274320"/>
          </a:xfrm>
          <a:prstGeom prst="rect">
            <a:avLst/>
          </a:prstGeom>
          <a:noFill/>
          <a:ln/>
        </p:spPr>
        <p:txBody>
          <a:bodyPr wrap="square"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Mobile &amp; IoT</a:t>
            </a:r>
            <a:endParaRPr lang="en-US" sz="1050" dirty="0"/>
          </a:p>
        </p:txBody>
      </p:sp>
      <p:sp>
        <p:nvSpPr>
          <p:cNvPr id="33" name="Text 31"/>
          <p:cNvSpPr/>
          <p:nvPr/>
        </p:nvSpPr>
        <p:spPr>
          <a:xfrm>
            <a:off x="5669280" y="4507992"/>
            <a:ext cx="310896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Often missed by traditional scanners; custom approaches needed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91321"/>
          </a:solidFill>
          <a:ln w="12700">
            <a:solidFill>
              <a:srgbClr val="091321"/>
            </a:solidFill>
            <a:prstDash val="solid"/>
          </a:ln>
        </p:spPr>
        <p:txBody>
          <a:bodyPr/>
          <a:lstStyle/>
          <a:p>
            <a:endParaRPr lang="en-US"/>
          </a:p>
        </p:txBody>
      </p:sp>
      <p:sp>
        <p:nvSpPr>
          <p:cNvPr id="3" name="Text 1"/>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09  |  ORGANIZATIONAL BUY-IN</a:t>
            </a:r>
            <a:endParaRPr lang="en-US" sz="1400" dirty="0"/>
          </a:p>
        </p:txBody>
      </p:sp>
      <p:sp>
        <p:nvSpPr>
          <p:cNvPr id="4" name="Text 2"/>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Getting the Whole Organization Behind VM</a:t>
            </a:r>
            <a:endParaRPr lang="en-US" sz="2400" dirty="0"/>
          </a:p>
        </p:txBody>
      </p:sp>
      <p:sp>
        <p:nvSpPr>
          <p:cNvPr id="5" name="Shape 3"/>
          <p:cNvSpPr/>
          <p:nvPr/>
        </p:nvSpPr>
        <p:spPr>
          <a:xfrm>
            <a:off x="274320" y="1600200"/>
            <a:ext cx="2788920" cy="3291840"/>
          </a:xfrm>
          <a:prstGeom prst="rect">
            <a:avLst/>
          </a:prstGeom>
          <a:solidFill>
            <a:srgbClr val="0A1929"/>
          </a:solidFill>
          <a:ln w="12700">
            <a:solidFill>
              <a:srgbClr val="009AA3"/>
            </a:solidFill>
            <a:prstDash val="solid"/>
          </a:ln>
        </p:spPr>
        <p:txBody>
          <a:bodyPr/>
          <a:lstStyle/>
          <a:p>
            <a:endParaRPr lang="en-US"/>
          </a:p>
        </p:txBody>
      </p:sp>
      <p:sp>
        <p:nvSpPr>
          <p:cNvPr id="6" name="Shape 4"/>
          <p:cNvSpPr/>
          <p:nvPr/>
        </p:nvSpPr>
        <p:spPr>
          <a:xfrm>
            <a:off x="274320" y="1600200"/>
            <a:ext cx="2788920" cy="73152"/>
          </a:xfrm>
          <a:prstGeom prst="rect">
            <a:avLst/>
          </a:prstGeom>
          <a:solidFill>
            <a:srgbClr val="00C2CB"/>
          </a:solidFill>
          <a:ln w="12700">
            <a:solidFill>
              <a:srgbClr val="00C2CB"/>
            </a:solidFill>
            <a:prstDash val="solid"/>
          </a:ln>
        </p:spPr>
        <p:txBody>
          <a:bodyPr/>
          <a:lstStyle/>
          <a:p>
            <a:endParaRPr lang="en-US"/>
          </a:p>
        </p:txBody>
      </p:sp>
      <p:sp>
        <p:nvSpPr>
          <p:cNvPr id="7" name="Text 5"/>
          <p:cNvSpPr/>
          <p:nvPr/>
        </p:nvSpPr>
        <p:spPr>
          <a:xfrm>
            <a:off x="274320" y="1719072"/>
            <a:ext cx="2788920"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274320" y="2240280"/>
            <a:ext cx="2788920" cy="411480"/>
          </a:xfrm>
          <a:prstGeom prst="rect">
            <a:avLst/>
          </a:prstGeom>
          <a:noFill/>
          <a:ln/>
        </p:spPr>
        <p:txBody>
          <a:bodyPr wrap="square" rtlCol="0" anchor="ctr"/>
          <a:lstStyle/>
          <a:p>
            <a:pPr marL="0" indent="0" algn="ctr">
              <a:buNone/>
            </a:pPr>
            <a:r>
              <a:rPr lang="en-US" sz="1300" b="1" dirty="0">
                <a:solidFill>
                  <a:srgbClr val="00C2CB"/>
                </a:solidFill>
                <a:latin typeface="Calibri" pitchFamily="34" charset="0"/>
                <a:ea typeface="Calibri" pitchFamily="34" charset="-122"/>
                <a:cs typeface="Calibri" pitchFamily="34" charset="-120"/>
              </a:rPr>
              <a:t>Executives</a:t>
            </a:r>
            <a:endParaRPr lang="en-US" sz="1300" dirty="0"/>
          </a:p>
        </p:txBody>
      </p:sp>
      <p:sp>
        <p:nvSpPr>
          <p:cNvPr id="9" name="Text 7"/>
          <p:cNvSpPr/>
          <p:nvPr/>
        </p:nvSpPr>
        <p:spPr>
          <a:xfrm>
            <a:off x="457200" y="2743200"/>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Translate risk into dollars</a:t>
            </a:r>
            <a:endParaRPr lang="en-US" sz="1050" dirty="0"/>
          </a:p>
        </p:txBody>
      </p:sp>
      <p:sp>
        <p:nvSpPr>
          <p:cNvPr id="10" name="Text 8"/>
          <p:cNvSpPr/>
          <p:nvPr/>
        </p:nvSpPr>
        <p:spPr>
          <a:xfrm>
            <a:off x="457200" y="3218688"/>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Benchmark against peers</a:t>
            </a:r>
            <a:endParaRPr lang="en-US" sz="1050" dirty="0"/>
          </a:p>
        </p:txBody>
      </p:sp>
      <p:sp>
        <p:nvSpPr>
          <p:cNvPr id="11" name="Text 9"/>
          <p:cNvSpPr/>
          <p:nvPr/>
        </p:nvSpPr>
        <p:spPr>
          <a:xfrm>
            <a:off x="457200" y="3694176"/>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Tie to regulatory exposure</a:t>
            </a:r>
            <a:endParaRPr lang="en-US" sz="1050" dirty="0"/>
          </a:p>
        </p:txBody>
      </p:sp>
      <p:sp>
        <p:nvSpPr>
          <p:cNvPr id="12" name="Text 10"/>
          <p:cNvSpPr/>
          <p:nvPr/>
        </p:nvSpPr>
        <p:spPr>
          <a:xfrm>
            <a:off x="457200" y="4169664"/>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Show trend improvement over time</a:t>
            </a:r>
            <a:endParaRPr lang="en-US" sz="1050" dirty="0"/>
          </a:p>
        </p:txBody>
      </p:sp>
      <p:sp>
        <p:nvSpPr>
          <p:cNvPr id="13" name="Shape 11"/>
          <p:cNvSpPr/>
          <p:nvPr/>
        </p:nvSpPr>
        <p:spPr>
          <a:xfrm>
            <a:off x="3246120" y="1600200"/>
            <a:ext cx="2788920" cy="3291840"/>
          </a:xfrm>
          <a:prstGeom prst="rect">
            <a:avLst/>
          </a:prstGeom>
          <a:solidFill>
            <a:srgbClr val="0A1929"/>
          </a:solidFill>
          <a:ln w="12700">
            <a:solidFill>
              <a:srgbClr val="009AA3"/>
            </a:solidFill>
            <a:prstDash val="solid"/>
          </a:ln>
        </p:spPr>
        <p:txBody>
          <a:bodyPr/>
          <a:lstStyle/>
          <a:p>
            <a:endParaRPr lang="en-US"/>
          </a:p>
        </p:txBody>
      </p:sp>
      <p:sp>
        <p:nvSpPr>
          <p:cNvPr id="14" name="Shape 12"/>
          <p:cNvSpPr/>
          <p:nvPr/>
        </p:nvSpPr>
        <p:spPr>
          <a:xfrm>
            <a:off x="3246120" y="1600200"/>
            <a:ext cx="2788920" cy="73152"/>
          </a:xfrm>
          <a:prstGeom prst="rect">
            <a:avLst/>
          </a:prstGeom>
          <a:solidFill>
            <a:srgbClr val="00C2CB"/>
          </a:solidFill>
          <a:ln w="12700">
            <a:solidFill>
              <a:srgbClr val="00C2CB"/>
            </a:solidFill>
            <a:prstDash val="solid"/>
          </a:ln>
        </p:spPr>
        <p:txBody>
          <a:bodyPr/>
          <a:lstStyle/>
          <a:p>
            <a:endParaRPr lang="en-US"/>
          </a:p>
        </p:txBody>
      </p:sp>
      <p:sp>
        <p:nvSpPr>
          <p:cNvPr id="15" name="Text 13"/>
          <p:cNvSpPr/>
          <p:nvPr/>
        </p:nvSpPr>
        <p:spPr>
          <a:xfrm>
            <a:off x="3246120" y="1719072"/>
            <a:ext cx="2788920"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6" name="Text 14"/>
          <p:cNvSpPr/>
          <p:nvPr/>
        </p:nvSpPr>
        <p:spPr>
          <a:xfrm>
            <a:off x="3246120" y="2240280"/>
            <a:ext cx="2788920" cy="411480"/>
          </a:xfrm>
          <a:prstGeom prst="rect">
            <a:avLst/>
          </a:prstGeom>
          <a:noFill/>
          <a:ln/>
        </p:spPr>
        <p:txBody>
          <a:bodyPr wrap="square" rtlCol="0" anchor="ctr"/>
          <a:lstStyle/>
          <a:p>
            <a:pPr marL="0" indent="0" algn="ctr">
              <a:buNone/>
            </a:pPr>
            <a:r>
              <a:rPr lang="en-US" sz="1300" b="1" dirty="0">
                <a:solidFill>
                  <a:srgbClr val="00C2CB"/>
                </a:solidFill>
                <a:latin typeface="Calibri" pitchFamily="34" charset="0"/>
                <a:ea typeface="Calibri" pitchFamily="34" charset="-122"/>
                <a:cs typeface="Calibri" pitchFamily="34" charset="-120"/>
              </a:rPr>
              <a:t>Engineering &amp; IT Ops</a:t>
            </a:r>
            <a:endParaRPr lang="en-US" sz="1300" dirty="0"/>
          </a:p>
        </p:txBody>
      </p:sp>
      <p:sp>
        <p:nvSpPr>
          <p:cNvPr id="17" name="Text 15"/>
          <p:cNvSpPr/>
          <p:nvPr/>
        </p:nvSpPr>
        <p:spPr>
          <a:xfrm>
            <a:off x="3429000" y="2743200"/>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Involve them in tool selection</a:t>
            </a:r>
            <a:endParaRPr lang="en-US" sz="1050" dirty="0"/>
          </a:p>
        </p:txBody>
      </p:sp>
      <p:sp>
        <p:nvSpPr>
          <p:cNvPr id="18" name="Text 16"/>
          <p:cNvSpPr/>
          <p:nvPr/>
        </p:nvSpPr>
        <p:spPr>
          <a:xfrm>
            <a:off x="3429000" y="3218688"/>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Reduce ticket noise via prioritization</a:t>
            </a:r>
            <a:endParaRPr lang="en-US" sz="1050" dirty="0"/>
          </a:p>
        </p:txBody>
      </p:sp>
      <p:sp>
        <p:nvSpPr>
          <p:cNvPr id="19" name="Text 17"/>
          <p:cNvSpPr/>
          <p:nvPr/>
        </p:nvSpPr>
        <p:spPr>
          <a:xfrm>
            <a:off x="3429000" y="3694176"/>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Celebrate fast remediators</a:t>
            </a:r>
            <a:endParaRPr lang="en-US" sz="1050" dirty="0"/>
          </a:p>
        </p:txBody>
      </p:sp>
      <p:sp>
        <p:nvSpPr>
          <p:cNvPr id="20" name="Text 18"/>
          <p:cNvSpPr/>
          <p:nvPr/>
        </p:nvSpPr>
        <p:spPr>
          <a:xfrm>
            <a:off x="3429000" y="4169664"/>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Automate where possible</a:t>
            </a:r>
            <a:endParaRPr lang="en-US" sz="1050" dirty="0"/>
          </a:p>
        </p:txBody>
      </p:sp>
      <p:sp>
        <p:nvSpPr>
          <p:cNvPr id="21" name="Shape 19"/>
          <p:cNvSpPr/>
          <p:nvPr/>
        </p:nvSpPr>
        <p:spPr>
          <a:xfrm>
            <a:off x="6217920" y="1600200"/>
            <a:ext cx="2788920" cy="3291840"/>
          </a:xfrm>
          <a:prstGeom prst="rect">
            <a:avLst/>
          </a:prstGeom>
          <a:solidFill>
            <a:srgbClr val="0A1929"/>
          </a:solidFill>
          <a:ln w="12700">
            <a:solidFill>
              <a:srgbClr val="009AA3"/>
            </a:solidFill>
            <a:prstDash val="solid"/>
          </a:ln>
        </p:spPr>
        <p:txBody>
          <a:bodyPr/>
          <a:lstStyle/>
          <a:p>
            <a:endParaRPr lang="en-US"/>
          </a:p>
        </p:txBody>
      </p:sp>
      <p:sp>
        <p:nvSpPr>
          <p:cNvPr id="22" name="Shape 20"/>
          <p:cNvSpPr/>
          <p:nvPr/>
        </p:nvSpPr>
        <p:spPr>
          <a:xfrm>
            <a:off x="6217920" y="1600200"/>
            <a:ext cx="2788920" cy="73152"/>
          </a:xfrm>
          <a:prstGeom prst="rect">
            <a:avLst/>
          </a:prstGeom>
          <a:solidFill>
            <a:srgbClr val="00C2CB"/>
          </a:solidFill>
          <a:ln w="12700">
            <a:solidFill>
              <a:srgbClr val="00C2CB"/>
            </a:solidFill>
            <a:prstDash val="solid"/>
          </a:ln>
        </p:spPr>
        <p:txBody>
          <a:bodyPr/>
          <a:lstStyle/>
          <a:p>
            <a:endParaRPr lang="en-US"/>
          </a:p>
        </p:txBody>
      </p:sp>
      <p:sp>
        <p:nvSpPr>
          <p:cNvPr id="23" name="Text 21"/>
          <p:cNvSpPr/>
          <p:nvPr/>
        </p:nvSpPr>
        <p:spPr>
          <a:xfrm>
            <a:off x="6217920" y="1719072"/>
            <a:ext cx="2788920"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4" name="Text 22"/>
          <p:cNvSpPr/>
          <p:nvPr/>
        </p:nvSpPr>
        <p:spPr>
          <a:xfrm>
            <a:off x="6217920" y="2240280"/>
            <a:ext cx="2788920" cy="411480"/>
          </a:xfrm>
          <a:prstGeom prst="rect">
            <a:avLst/>
          </a:prstGeom>
          <a:noFill/>
          <a:ln/>
        </p:spPr>
        <p:txBody>
          <a:bodyPr wrap="square" rtlCol="0" anchor="ctr"/>
          <a:lstStyle/>
          <a:p>
            <a:pPr marL="0" indent="0" algn="ctr">
              <a:buNone/>
            </a:pPr>
            <a:r>
              <a:rPr lang="en-US" sz="1300" b="1" dirty="0">
                <a:solidFill>
                  <a:srgbClr val="00C2CB"/>
                </a:solidFill>
                <a:latin typeface="Calibri" pitchFamily="34" charset="0"/>
                <a:ea typeface="Calibri" pitchFamily="34" charset="-122"/>
                <a:cs typeface="Calibri" pitchFamily="34" charset="-120"/>
              </a:rPr>
              <a:t>The Broader Org</a:t>
            </a:r>
            <a:endParaRPr lang="en-US" sz="1300" dirty="0"/>
          </a:p>
        </p:txBody>
      </p:sp>
      <p:sp>
        <p:nvSpPr>
          <p:cNvPr id="25" name="Text 23"/>
          <p:cNvSpPr/>
          <p:nvPr/>
        </p:nvSpPr>
        <p:spPr>
          <a:xfrm>
            <a:off x="6400800" y="2743200"/>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Quick wins to show early value</a:t>
            </a:r>
            <a:endParaRPr lang="en-US" sz="1050" dirty="0"/>
          </a:p>
        </p:txBody>
      </p:sp>
      <p:sp>
        <p:nvSpPr>
          <p:cNvPr id="26" name="Text 24"/>
          <p:cNvSpPr/>
          <p:nvPr/>
        </p:nvSpPr>
        <p:spPr>
          <a:xfrm>
            <a:off x="6400800" y="3218688"/>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Regular comms on risk reduction</a:t>
            </a:r>
            <a:endParaRPr lang="en-US" sz="1050" dirty="0"/>
          </a:p>
        </p:txBody>
      </p:sp>
      <p:sp>
        <p:nvSpPr>
          <p:cNvPr id="27" name="Text 25"/>
          <p:cNvSpPr/>
          <p:nvPr/>
        </p:nvSpPr>
        <p:spPr>
          <a:xfrm>
            <a:off x="6400800" y="3694176"/>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Make security a shared mission</a:t>
            </a:r>
            <a:endParaRPr lang="en-US" sz="1050" dirty="0"/>
          </a:p>
        </p:txBody>
      </p:sp>
      <p:sp>
        <p:nvSpPr>
          <p:cNvPr id="28" name="Text 26"/>
          <p:cNvSpPr/>
          <p:nvPr/>
        </p:nvSpPr>
        <p:spPr>
          <a:xfrm>
            <a:off x="6400800" y="4169664"/>
            <a:ext cx="2423160" cy="438912"/>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 Get exec sponsor visible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0"/>
            <a:ext cx="9144000" cy="914400"/>
          </a:xfrm>
          <a:prstGeom prst="rect">
            <a:avLst/>
          </a:prstGeom>
          <a:solidFill>
            <a:srgbClr val="091321"/>
          </a:solidFill>
          <a:ln w="12700">
            <a:solidFill>
              <a:srgbClr val="091321"/>
            </a:solidFill>
            <a:prstDash val="solid"/>
          </a:ln>
        </p:spPr>
        <p:txBody>
          <a:bodyPr/>
          <a:lstStyle/>
          <a:p>
            <a:endParaRPr lang="en-US"/>
          </a:p>
        </p:txBody>
      </p:sp>
      <p:sp>
        <p:nvSpPr>
          <p:cNvPr id="4" name="Text 2"/>
          <p:cNvSpPr/>
          <p:nvPr/>
        </p:nvSpPr>
        <p:spPr>
          <a:xfrm>
            <a:off x="365760" y="109728"/>
            <a:ext cx="8229600" cy="694944"/>
          </a:xfrm>
          <a:prstGeom prst="rect">
            <a:avLst/>
          </a:prstGeom>
          <a:noFill/>
          <a:ln/>
        </p:spPr>
        <p:txBody>
          <a:bodyPr wrap="square" rtlCol="0" anchor="ctr"/>
          <a:lstStyle/>
          <a:p>
            <a:pPr marL="0" indent="0">
              <a:buNone/>
            </a:pPr>
            <a:r>
              <a:rPr lang="en-US" sz="1400" kern="0" spc="200" dirty="0">
                <a:solidFill>
                  <a:srgbClr val="00C2CB"/>
                </a:solidFill>
                <a:latin typeface="Calibri" pitchFamily="34" charset="0"/>
                <a:ea typeface="Calibri" pitchFamily="34" charset="-122"/>
                <a:cs typeface="Calibri" pitchFamily="34" charset="-120"/>
              </a:rPr>
              <a:t>10  |  KEY TAKEAWAYS</a:t>
            </a:r>
            <a:endParaRPr lang="en-US" sz="1400" dirty="0"/>
          </a:p>
        </p:txBody>
      </p:sp>
      <p:sp>
        <p:nvSpPr>
          <p:cNvPr id="5" name="Text 3"/>
          <p:cNvSpPr/>
          <p:nvPr/>
        </p:nvSpPr>
        <p:spPr>
          <a:xfrm>
            <a:off x="365760" y="960120"/>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to Remember</a:t>
            </a:r>
            <a:endParaRPr lang="en-US" sz="2400" dirty="0"/>
          </a:p>
        </p:txBody>
      </p:sp>
      <p:sp>
        <p:nvSpPr>
          <p:cNvPr id="6" name="Shape 4"/>
          <p:cNvSpPr/>
          <p:nvPr/>
        </p:nvSpPr>
        <p:spPr>
          <a:xfrm>
            <a:off x="274320" y="1645920"/>
            <a:ext cx="475488" cy="475488"/>
          </a:xfrm>
          <a:prstGeom prst="ellipse">
            <a:avLst/>
          </a:prstGeom>
          <a:solidFill>
            <a:srgbClr val="00C2CB"/>
          </a:solidFill>
          <a:ln w="12700">
            <a:solidFill>
              <a:srgbClr val="00C2CB"/>
            </a:solidFill>
            <a:prstDash val="solid"/>
          </a:ln>
        </p:spPr>
        <p:txBody>
          <a:bodyPr/>
          <a:lstStyle/>
          <a:p>
            <a:endParaRPr lang="en-US"/>
          </a:p>
        </p:txBody>
      </p:sp>
      <p:sp>
        <p:nvSpPr>
          <p:cNvPr id="7" name="Text 5"/>
          <p:cNvSpPr/>
          <p:nvPr/>
        </p:nvSpPr>
        <p:spPr>
          <a:xfrm>
            <a:off x="274320" y="1645920"/>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rPr>
              <a:t>1</a:t>
            </a:r>
            <a:endParaRPr lang="en-US" sz="1400" dirty="0"/>
          </a:p>
        </p:txBody>
      </p:sp>
      <p:sp>
        <p:nvSpPr>
          <p:cNvPr id="8" name="Text 6"/>
          <p:cNvSpPr/>
          <p:nvPr/>
        </p:nvSpPr>
        <p:spPr>
          <a:xfrm>
            <a:off x="914400" y="1600200"/>
            <a:ext cx="7863840" cy="5943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VM is a program, not a project — it requires continuous improvement and dedicated ownership.</a:t>
            </a:r>
            <a:endParaRPr lang="en-US" sz="1250" dirty="0"/>
          </a:p>
        </p:txBody>
      </p:sp>
      <p:sp>
        <p:nvSpPr>
          <p:cNvPr id="9" name="Shape 7"/>
          <p:cNvSpPr/>
          <p:nvPr/>
        </p:nvSpPr>
        <p:spPr>
          <a:xfrm>
            <a:off x="274320" y="2313432"/>
            <a:ext cx="475488" cy="475488"/>
          </a:xfrm>
          <a:prstGeom prst="ellipse">
            <a:avLst/>
          </a:prstGeom>
          <a:solidFill>
            <a:srgbClr val="00C2CB"/>
          </a:solidFill>
          <a:ln w="12700">
            <a:solidFill>
              <a:srgbClr val="00C2CB"/>
            </a:solidFill>
            <a:prstDash val="solid"/>
          </a:ln>
        </p:spPr>
        <p:txBody>
          <a:bodyPr/>
          <a:lstStyle/>
          <a:p>
            <a:endParaRPr lang="en-US"/>
          </a:p>
        </p:txBody>
      </p:sp>
      <p:sp>
        <p:nvSpPr>
          <p:cNvPr id="10" name="Text 8"/>
          <p:cNvSpPr/>
          <p:nvPr/>
        </p:nvSpPr>
        <p:spPr>
          <a:xfrm>
            <a:off x="274320" y="231343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rPr>
              <a:t>2</a:t>
            </a:r>
            <a:endParaRPr lang="en-US" sz="1400" dirty="0"/>
          </a:p>
        </p:txBody>
      </p:sp>
      <p:sp>
        <p:nvSpPr>
          <p:cNvPr id="11" name="Text 9"/>
          <p:cNvSpPr/>
          <p:nvPr/>
        </p:nvSpPr>
        <p:spPr>
          <a:xfrm>
            <a:off x="914400" y="2267712"/>
            <a:ext cx="7863840" cy="5943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Prioritization and accountability are the two hardest problems. Solve these first.</a:t>
            </a:r>
            <a:endParaRPr lang="en-US" sz="1250" dirty="0"/>
          </a:p>
        </p:txBody>
      </p:sp>
      <p:sp>
        <p:nvSpPr>
          <p:cNvPr id="12" name="Shape 10"/>
          <p:cNvSpPr/>
          <p:nvPr/>
        </p:nvSpPr>
        <p:spPr>
          <a:xfrm>
            <a:off x="274320" y="2980944"/>
            <a:ext cx="475488" cy="475488"/>
          </a:xfrm>
          <a:prstGeom prst="ellipse">
            <a:avLst/>
          </a:prstGeom>
          <a:solidFill>
            <a:srgbClr val="00C2CB"/>
          </a:solidFill>
          <a:ln w="12700">
            <a:solidFill>
              <a:srgbClr val="00C2CB"/>
            </a:solidFill>
            <a:prstDash val="solid"/>
          </a:ln>
        </p:spPr>
        <p:txBody>
          <a:bodyPr/>
          <a:lstStyle/>
          <a:p>
            <a:endParaRPr lang="en-US"/>
          </a:p>
        </p:txBody>
      </p:sp>
      <p:sp>
        <p:nvSpPr>
          <p:cNvPr id="13" name="Text 11"/>
          <p:cNvSpPr/>
          <p:nvPr/>
        </p:nvSpPr>
        <p:spPr>
          <a:xfrm>
            <a:off x="274320" y="2980944"/>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rPr>
              <a:t>3</a:t>
            </a:r>
            <a:endParaRPr lang="en-US" sz="1400" dirty="0"/>
          </a:p>
        </p:txBody>
      </p:sp>
      <p:sp>
        <p:nvSpPr>
          <p:cNvPr id="14" name="Text 12"/>
          <p:cNvSpPr/>
          <p:nvPr/>
        </p:nvSpPr>
        <p:spPr>
          <a:xfrm>
            <a:off x="914400" y="2935224"/>
            <a:ext cx="7863840" cy="5943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Start with visibility: know your assets, know your exposure, then build toward risk-based maturity.</a:t>
            </a:r>
            <a:endParaRPr lang="en-US" sz="1250" dirty="0"/>
          </a:p>
        </p:txBody>
      </p:sp>
      <p:sp>
        <p:nvSpPr>
          <p:cNvPr id="15" name="Shape 13"/>
          <p:cNvSpPr/>
          <p:nvPr/>
        </p:nvSpPr>
        <p:spPr>
          <a:xfrm>
            <a:off x="274320" y="3648456"/>
            <a:ext cx="475488" cy="475488"/>
          </a:xfrm>
          <a:prstGeom prst="ellipse">
            <a:avLst/>
          </a:prstGeom>
          <a:solidFill>
            <a:srgbClr val="00C2CB"/>
          </a:solidFill>
          <a:ln w="12700">
            <a:solidFill>
              <a:srgbClr val="00C2CB"/>
            </a:solidFill>
            <a:prstDash val="solid"/>
          </a:ln>
        </p:spPr>
        <p:txBody>
          <a:bodyPr/>
          <a:lstStyle/>
          <a:p>
            <a:endParaRPr lang="en-US"/>
          </a:p>
        </p:txBody>
      </p:sp>
      <p:sp>
        <p:nvSpPr>
          <p:cNvPr id="16" name="Text 14"/>
          <p:cNvSpPr/>
          <p:nvPr/>
        </p:nvSpPr>
        <p:spPr>
          <a:xfrm>
            <a:off x="274320" y="3648456"/>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rPr>
              <a:t>4</a:t>
            </a:r>
            <a:endParaRPr lang="en-US" sz="1400" dirty="0"/>
          </a:p>
        </p:txBody>
      </p:sp>
      <p:sp>
        <p:nvSpPr>
          <p:cNvPr id="17" name="Text 15"/>
          <p:cNvSpPr/>
          <p:nvPr/>
        </p:nvSpPr>
        <p:spPr>
          <a:xfrm>
            <a:off x="914400" y="3602736"/>
            <a:ext cx="7863840" cy="5943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Metrics drive behavior — measure MTTR, SLA compliance, and coverage, not just vuln counts.</a:t>
            </a:r>
            <a:endParaRPr lang="en-US" sz="1250" dirty="0"/>
          </a:p>
        </p:txBody>
      </p:sp>
      <p:sp>
        <p:nvSpPr>
          <p:cNvPr id="18" name="Shape 16"/>
          <p:cNvSpPr/>
          <p:nvPr/>
        </p:nvSpPr>
        <p:spPr>
          <a:xfrm>
            <a:off x="274320" y="4315968"/>
            <a:ext cx="475488" cy="475488"/>
          </a:xfrm>
          <a:prstGeom prst="ellipse">
            <a:avLst/>
          </a:prstGeom>
          <a:solidFill>
            <a:srgbClr val="00C2CB"/>
          </a:solidFill>
          <a:ln w="12700">
            <a:solidFill>
              <a:srgbClr val="00C2CB"/>
            </a:solidFill>
            <a:prstDash val="solid"/>
          </a:ln>
        </p:spPr>
        <p:txBody>
          <a:bodyPr/>
          <a:lstStyle/>
          <a:p>
            <a:endParaRPr lang="en-US"/>
          </a:p>
        </p:txBody>
      </p:sp>
      <p:sp>
        <p:nvSpPr>
          <p:cNvPr id="19" name="Text 17"/>
          <p:cNvSpPr/>
          <p:nvPr/>
        </p:nvSpPr>
        <p:spPr>
          <a:xfrm>
            <a:off x="274320" y="4315968"/>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rPr>
              <a:t>5</a:t>
            </a:r>
            <a:endParaRPr lang="en-US" sz="1400" dirty="0"/>
          </a:p>
        </p:txBody>
      </p:sp>
      <p:sp>
        <p:nvSpPr>
          <p:cNvPr id="20" name="Text 18"/>
          <p:cNvSpPr/>
          <p:nvPr/>
        </p:nvSpPr>
        <p:spPr>
          <a:xfrm>
            <a:off x="914400" y="4270248"/>
            <a:ext cx="7863840" cy="5943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Security is a team sport. Without buy-in from IT, engineering, and leadership, VM programs stall.</a:t>
            </a:r>
            <a:endParaRPr lang="en-US" sz="1250" dirty="0"/>
          </a:p>
        </p:txBody>
      </p:sp>
      <p:sp>
        <p:nvSpPr>
          <p:cNvPr id="21" name="Shape 19"/>
          <p:cNvSpPr/>
          <p:nvPr/>
        </p:nvSpPr>
        <p:spPr>
          <a:xfrm>
            <a:off x="0" y="4754880"/>
            <a:ext cx="9144000" cy="388620"/>
          </a:xfrm>
          <a:prstGeom prst="rect">
            <a:avLst/>
          </a:prstGeom>
          <a:solidFill>
            <a:srgbClr val="00C2CB"/>
          </a:solidFill>
          <a:ln w="12700">
            <a:solidFill>
              <a:srgbClr val="00C2CB"/>
            </a:solidFill>
            <a:prstDash val="solid"/>
          </a:ln>
        </p:spPr>
        <p:txBody>
          <a:bodyPr/>
          <a:lstStyle/>
          <a:p>
            <a:endParaRPr lang="en-US"/>
          </a:p>
        </p:txBody>
      </p:sp>
      <p:sp>
        <p:nvSpPr>
          <p:cNvPr id="22" name="Text 20"/>
          <p:cNvSpPr/>
          <p:nvPr/>
        </p:nvSpPr>
        <p:spPr>
          <a:xfrm>
            <a:off x="365760" y="4754880"/>
            <a:ext cx="8229600" cy="38862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Questions &amp; Discussion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36576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3" name="Shape 1"/>
          <p:cNvSpPr/>
          <p:nvPr/>
        </p:nvSpPr>
        <p:spPr>
          <a:xfrm>
            <a:off x="7242048" y="36576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4" name="Shape 2"/>
          <p:cNvSpPr/>
          <p:nvPr/>
        </p:nvSpPr>
        <p:spPr>
          <a:xfrm>
            <a:off x="7626096" y="36576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5" name="Shape 3"/>
          <p:cNvSpPr/>
          <p:nvPr/>
        </p:nvSpPr>
        <p:spPr>
          <a:xfrm>
            <a:off x="8010144" y="36576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6" name="Shape 4"/>
          <p:cNvSpPr/>
          <p:nvPr/>
        </p:nvSpPr>
        <p:spPr>
          <a:xfrm>
            <a:off x="8394192" y="365760"/>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7" name="Shape 5"/>
          <p:cNvSpPr/>
          <p:nvPr/>
        </p:nvSpPr>
        <p:spPr>
          <a:xfrm>
            <a:off x="6858000" y="1024128"/>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8" name="Shape 6"/>
          <p:cNvSpPr/>
          <p:nvPr/>
        </p:nvSpPr>
        <p:spPr>
          <a:xfrm>
            <a:off x="7242048" y="1024128"/>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9" name="Shape 7"/>
          <p:cNvSpPr/>
          <p:nvPr/>
        </p:nvSpPr>
        <p:spPr>
          <a:xfrm>
            <a:off x="7626096" y="1024128"/>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10" name="Shape 8"/>
          <p:cNvSpPr/>
          <p:nvPr/>
        </p:nvSpPr>
        <p:spPr>
          <a:xfrm>
            <a:off x="8010144" y="1024128"/>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11" name="Shape 9"/>
          <p:cNvSpPr/>
          <p:nvPr/>
        </p:nvSpPr>
        <p:spPr>
          <a:xfrm>
            <a:off x="8394192" y="1024128"/>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12" name="Shape 10"/>
          <p:cNvSpPr/>
          <p:nvPr/>
        </p:nvSpPr>
        <p:spPr>
          <a:xfrm>
            <a:off x="6858000" y="1682496"/>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13" name="Shape 11"/>
          <p:cNvSpPr/>
          <p:nvPr/>
        </p:nvSpPr>
        <p:spPr>
          <a:xfrm>
            <a:off x="7242048" y="1682496"/>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14" name="Shape 12"/>
          <p:cNvSpPr/>
          <p:nvPr/>
        </p:nvSpPr>
        <p:spPr>
          <a:xfrm>
            <a:off x="7626096" y="1682496"/>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5" name="Shape 13"/>
          <p:cNvSpPr/>
          <p:nvPr/>
        </p:nvSpPr>
        <p:spPr>
          <a:xfrm>
            <a:off x="8010144" y="1682496"/>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16" name="Shape 14"/>
          <p:cNvSpPr/>
          <p:nvPr/>
        </p:nvSpPr>
        <p:spPr>
          <a:xfrm>
            <a:off x="8394192" y="1682496"/>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7" name="Shape 15"/>
          <p:cNvSpPr/>
          <p:nvPr/>
        </p:nvSpPr>
        <p:spPr>
          <a:xfrm>
            <a:off x="6858000" y="2340864"/>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18" name="Shape 16"/>
          <p:cNvSpPr/>
          <p:nvPr/>
        </p:nvSpPr>
        <p:spPr>
          <a:xfrm>
            <a:off x="7242048" y="2340864"/>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19" name="Shape 17"/>
          <p:cNvSpPr/>
          <p:nvPr/>
        </p:nvSpPr>
        <p:spPr>
          <a:xfrm>
            <a:off x="7626096" y="2340864"/>
            <a:ext cx="164592" cy="164592"/>
          </a:xfrm>
          <a:prstGeom prst="ellipse">
            <a:avLst/>
          </a:prstGeom>
          <a:solidFill>
            <a:srgbClr val="00C2CB">
              <a:alpha val="50000"/>
            </a:srgbClr>
          </a:solidFill>
          <a:ln w="12700">
            <a:solidFill>
              <a:srgbClr val="00C2CB">
                <a:alpha val="50000"/>
              </a:srgbClr>
            </a:solidFill>
            <a:prstDash val="solid"/>
          </a:ln>
        </p:spPr>
        <p:txBody>
          <a:bodyPr/>
          <a:lstStyle/>
          <a:p>
            <a:endParaRPr lang="en-US"/>
          </a:p>
        </p:txBody>
      </p:sp>
      <p:sp>
        <p:nvSpPr>
          <p:cNvPr id="20" name="Shape 18"/>
          <p:cNvSpPr/>
          <p:nvPr/>
        </p:nvSpPr>
        <p:spPr>
          <a:xfrm>
            <a:off x="8010144" y="2340864"/>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21" name="Shape 19"/>
          <p:cNvSpPr/>
          <p:nvPr/>
        </p:nvSpPr>
        <p:spPr>
          <a:xfrm>
            <a:off x="8394192" y="2340864"/>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22" name="Shape 20"/>
          <p:cNvSpPr/>
          <p:nvPr/>
        </p:nvSpPr>
        <p:spPr>
          <a:xfrm>
            <a:off x="6858000" y="2999232"/>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23" name="Shape 21"/>
          <p:cNvSpPr/>
          <p:nvPr/>
        </p:nvSpPr>
        <p:spPr>
          <a:xfrm>
            <a:off x="7242048" y="2999232"/>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24" name="Shape 22"/>
          <p:cNvSpPr/>
          <p:nvPr/>
        </p:nvSpPr>
        <p:spPr>
          <a:xfrm>
            <a:off x="7626096" y="2999232"/>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25" name="Shape 23"/>
          <p:cNvSpPr/>
          <p:nvPr/>
        </p:nvSpPr>
        <p:spPr>
          <a:xfrm>
            <a:off x="8010144" y="2999232"/>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26" name="Shape 24"/>
          <p:cNvSpPr/>
          <p:nvPr/>
        </p:nvSpPr>
        <p:spPr>
          <a:xfrm>
            <a:off x="8394192" y="2999232"/>
            <a:ext cx="164592" cy="164592"/>
          </a:xfrm>
          <a:prstGeom prst="ellipse">
            <a:avLst/>
          </a:prstGeom>
          <a:solidFill>
            <a:srgbClr val="00C2CB">
              <a:alpha val="20000"/>
            </a:srgbClr>
          </a:solidFill>
          <a:ln w="12700">
            <a:solidFill>
              <a:srgbClr val="00C2CB">
                <a:alpha val="20000"/>
              </a:srgbClr>
            </a:solidFill>
            <a:prstDash val="solid"/>
          </a:ln>
        </p:spPr>
        <p:txBody>
          <a:bodyPr/>
          <a:lstStyle/>
          <a:p>
            <a:endParaRPr lang="en-US"/>
          </a:p>
        </p:txBody>
      </p:sp>
      <p:sp>
        <p:nvSpPr>
          <p:cNvPr id="27" name="Shape 25"/>
          <p:cNvSpPr/>
          <p:nvPr/>
        </p:nvSpPr>
        <p:spPr>
          <a:xfrm>
            <a:off x="0" y="0"/>
            <a:ext cx="73152" cy="5143500"/>
          </a:xfrm>
          <a:prstGeom prst="rect">
            <a:avLst/>
          </a:prstGeom>
          <a:solidFill>
            <a:srgbClr val="00C2CB"/>
          </a:solidFill>
          <a:ln w="12700">
            <a:solidFill>
              <a:srgbClr val="00C2CB"/>
            </a:solidFill>
            <a:prstDash val="solid"/>
          </a:ln>
        </p:spPr>
        <p:txBody>
          <a:bodyPr/>
          <a:lstStyle/>
          <a:p>
            <a:endParaRPr lang="en-US"/>
          </a:p>
        </p:txBody>
      </p:sp>
      <p:sp>
        <p:nvSpPr>
          <p:cNvPr id="28" name="Shape 26"/>
          <p:cNvSpPr/>
          <p:nvPr/>
        </p:nvSpPr>
        <p:spPr>
          <a:xfrm>
            <a:off x="457200" y="1874520"/>
            <a:ext cx="5029200" cy="54864"/>
          </a:xfrm>
          <a:prstGeom prst="rect">
            <a:avLst/>
          </a:prstGeom>
          <a:solidFill>
            <a:srgbClr val="00C2CB"/>
          </a:solidFill>
          <a:ln w="12700">
            <a:solidFill>
              <a:srgbClr val="00C2CB"/>
            </a:solidFill>
            <a:prstDash val="solid"/>
          </a:ln>
        </p:spPr>
        <p:txBody>
          <a:bodyPr/>
          <a:lstStyle/>
          <a:p>
            <a:endParaRPr lang="en-US"/>
          </a:p>
        </p:txBody>
      </p:sp>
      <p:sp>
        <p:nvSpPr>
          <p:cNvPr id="29" name="Text 27"/>
          <p:cNvSpPr/>
          <p:nvPr/>
        </p:nvSpPr>
        <p:spPr>
          <a:xfrm>
            <a:off x="457200" y="914400"/>
            <a:ext cx="6400800" cy="91440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30" name="Text 28"/>
          <p:cNvSpPr/>
          <p:nvPr/>
        </p:nvSpPr>
        <p:spPr>
          <a:xfrm>
            <a:off x="457200" y="2011680"/>
            <a:ext cx="5943600" cy="457200"/>
          </a:xfrm>
          <a:prstGeom prst="rect">
            <a:avLst/>
          </a:prstGeom>
          <a:noFill/>
          <a:ln/>
        </p:spPr>
        <p:txBody>
          <a:bodyPr wrap="square" rtlCol="0" anchor="ctr"/>
          <a:lstStyle/>
          <a:p>
            <a:pPr marL="0" indent="0">
              <a:buNone/>
            </a:pPr>
            <a:r>
              <a:rPr lang="en-US" sz="1600" i="1" dirty="0">
                <a:solidFill>
                  <a:srgbClr val="D1D5DB"/>
                </a:solidFill>
                <a:latin typeface="Calibri" pitchFamily="34" charset="0"/>
                <a:ea typeface="Calibri" pitchFamily="34" charset="-122"/>
                <a:cs typeface="Calibri" pitchFamily="34" charset="-120"/>
              </a:rPr>
              <a:t>Let's keep the conversation going.</a:t>
            </a:r>
            <a:endParaRPr lang="en-US" sz="1600" dirty="0"/>
          </a:p>
        </p:txBody>
      </p:sp>
      <p:sp>
        <p:nvSpPr>
          <p:cNvPr id="31" name="Text 29"/>
          <p:cNvSpPr/>
          <p:nvPr/>
        </p:nvSpPr>
        <p:spPr>
          <a:xfrm>
            <a:off x="457200" y="2651760"/>
            <a:ext cx="5029200" cy="365760"/>
          </a:xfrm>
          <a:prstGeom prst="rect">
            <a:avLst/>
          </a:prstGeom>
          <a:noFill/>
          <a:ln/>
        </p:spPr>
        <p:txBody>
          <a:bodyPr wrap="square" rtlCol="0" anchor="ctr"/>
          <a:lstStyle/>
          <a:p>
            <a:pPr marL="0" indent="0">
              <a:buNone/>
            </a:pPr>
            <a:r>
              <a:rPr lang="en-US" sz="1300" dirty="0">
                <a:solidFill>
                  <a:srgbClr val="D1D5DB"/>
                </a:solidFill>
                <a:latin typeface="Calibri" pitchFamily="34" charset="0"/>
                <a:ea typeface="Calibri" pitchFamily="34" charset="-122"/>
                <a:cs typeface="Calibri" pitchFamily="34" charset="-120"/>
              </a:rPr>
              <a:t>Connect with me on LinkedIn:</a:t>
            </a:r>
            <a:endParaRPr lang="en-US" sz="1300" dirty="0"/>
          </a:p>
        </p:txBody>
      </p:sp>
      <p:sp>
        <p:nvSpPr>
          <p:cNvPr id="32" name="Shape 30"/>
          <p:cNvSpPr/>
          <p:nvPr/>
        </p:nvSpPr>
        <p:spPr>
          <a:xfrm>
            <a:off x="457200" y="3090672"/>
            <a:ext cx="5120640" cy="566928"/>
          </a:xfrm>
          <a:prstGeom prst="rect">
            <a:avLst/>
          </a:prstGeom>
          <a:solidFill>
            <a:srgbClr val="0A1929"/>
          </a:solidFill>
          <a:ln w="19050">
            <a:solidFill>
              <a:srgbClr val="00C2CB"/>
            </a:solidFill>
            <a:prstDash val="solid"/>
          </a:ln>
        </p:spPr>
        <p:txBody>
          <a:bodyPr/>
          <a:lstStyle/>
          <a:p>
            <a:endParaRPr lang="en-US"/>
          </a:p>
        </p:txBody>
      </p:sp>
      <p:sp>
        <p:nvSpPr>
          <p:cNvPr id="33" name="Shape 31"/>
          <p:cNvSpPr/>
          <p:nvPr/>
        </p:nvSpPr>
        <p:spPr>
          <a:xfrm>
            <a:off x="475488" y="3118104"/>
            <a:ext cx="493776" cy="493776"/>
          </a:xfrm>
          <a:prstGeom prst="roundRect">
            <a:avLst>
              <a:gd name="adj" fmla="val 11111"/>
            </a:avLst>
          </a:prstGeom>
          <a:solidFill>
            <a:srgbClr val="0077B5"/>
          </a:solidFill>
          <a:ln w="12700">
            <a:solidFill>
              <a:srgbClr val="0077B5"/>
            </a:solidFill>
            <a:prstDash val="solid"/>
          </a:ln>
        </p:spPr>
        <p:txBody>
          <a:bodyPr/>
          <a:lstStyle/>
          <a:p>
            <a:endParaRPr lang="en-US"/>
          </a:p>
        </p:txBody>
      </p:sp>
      <p:sp>
        <p:nvSpPr>
          <p:cNvPr id="34" name="Text 32"/>
          <p:cNvSpPr/>
          <p:nvPr/>
        </p:nvSpPr>
        <p:spPr>
          <a:xfrm>
            <a:off x="475488" y="3118104"/>
            <a:ext cx="493776" cy="49377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in</a:t>
            </a:r>
            <a:endParaRPr lang="en-US" sz="1600" dirty="0"/>
          </a:p>
        </p:txBody>
      </p:sp>
      <p:sp>
        <p:nvSpPr>
          <p:cNvPr id="35" name="Text 33">
            <a:hlinkClick r:id="rId3"/>
          </p:cNvPr>
          <p:cNvSpPr/>
          <p:nvPr/>
        </p:nvSpPr>
        <p:spPr>
          <a:xfrm>
            <a:off x="1051560" y="3090672"/>
            <a:ext cx="4434840" cy="566928"/>
          </a:xfrm>
          <a:prstGeom prst="rect">
            <a:avLst/>
          </a:prstGeom>
          <a:noFill/>
          <a:ln/>
        </p:spPr>
        <p:txBody>
          <a:bodyPr wrap="square" rtlCol="0" anchor="ctr"/>
          <a:lstStyle/>
          <a:p>
            <a:pPr marL="0" indent="0">
              <a:buNone/>
            </a:pPr>
            <a:r>
              <a:rPr lang="en-US" sz="1300" u="sng" dirty="0">
                <a:solidFill>
                  <a:srgbClr val="00C2C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linkedin.com/in/rich-ingersoll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2887</Words>
  <Application>Microsoft Macintosh PowerPoint</Application>
  <PresentationFormat>On-screen Show (16:9)</PresentationFormat>
  <Paragraphs>248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an Effective Vulnerability Management Program</dc:title>
  <dc:subject>PptxGenJS Presentation</dc:subject>
  <dc:creator>PptxGenJS</dc:creator>
  <cp:lastModifiedBy>Ingersoll, Richard</cp:lastModifiedBy>
  <cp:revision>4</cp:revision>
  <dcterms:created xsi:type="dcterms:W3CDTF">2026-04-03T21:48:33Z</dcterms:created>
  <dcterms:modified xsi:type="dcterms:W3CDTF">2026-04-03T22:04:56Z</dcterms:modified>
</cp:coreProperties>
</file>